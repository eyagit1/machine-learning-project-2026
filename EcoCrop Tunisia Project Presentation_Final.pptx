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B5E20"/>
            </a:gs>
            <a:gs pos="100000">
              <a:srgbClr val="2E7D3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29314" y="-1904999"/>
            <a:ext cx="5714857" cy="57150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476238" y="4476750"/>
            <a:ext cx="3809904" cy="3809999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62480" y="1371600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AED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05352" y="1563588"/>
            <a:ext cx="380990" cy="2827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05052" y="2228850"/>
            <a:ext cx="6381590" cy="838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720"/>
              </a:lnSpc>
              <a:spcBef>
                <a:spcPts val="0"/>
              </a:spcBef>
              <a:spcAft>
                <a:spcPts val="1560"/>
              </a:spcAft>
            </a:pPr>
            <a:r>
              <a:rPr sz="4784" b="1">
                <a:solidFill>
                  <a:srgbClr val="FFFFFF"/>
                </a:solidFill>
                <a:latin typeface="Montserrat"/>
              </a:rPr>
              <a:t>EcoCrop Tunisia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24361" y="3295650"/>
            <a:ext cx="1142971" cy="38100"/>
          </a:xfrm>
          <a:prstGeom prst="roundRect">
            <a:avLst>
              <a:gd name="adj" fmla="val 100000"/>
            </a:avLst>
          </a:prstGeom>
          <a:solidFill>
            <a:srgbClr val="AED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05052" y="3790949"/>
            <a:ext cx="6381590" cy="6286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120"/>
              </a:spcAft>
            </a:pPr>
            <a:r>
              <a:rPr sz="1674" b="0">
                <a:solidFill>
                  <a:srgbClr val="FFFFFF"/>
                </a:solidFill>
                <a:latin typeface="Roboto"/>
              </a:rPr>
              <a:t>Predictive Modeling of Cereal Yields</a:t>
            </a:r>
            <a:r>
              <a:rPr sz="1104"/>
              <a:t>
</a:t>
            </a:r>
            <a:r>
              <a:rPr sz="1674" b="0">
                <a:solidFill>
                  <a:srgbClr val="FFFFFF"/>
                </a:solidFill>
                <a:latin typeface="Roboto"/>
              </a:rPr>
              <a:t>Using Weather Data &amp; Machine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5052" y="4876800"/>
            <a:ext cx="6381590" cy="609600"/>
          </a:xfrm>
          <a:prstGeom prst="roundRect">
            <a:avLst>
              <a:gd name="adj" fmla="val 15625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2240" y="5093017"/>
            <a:ext cx="228594" cy="177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67033" y="5086350"/>
            <a:ext cx="159063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Data Science Project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8659" y="5073015"/>
            <a:ext cx="228594" cy="2171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451" y="5086350"/>
            <a:ext cx="971525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2016 – 2024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05492" y="5084444"/>
            <a:ext cx="228594" cy="1943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10284" y="5086350"/>
            <a:ext cx="1219169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Roboto"/>
              </a:rPr>
              <a:t>Tunisia Regions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B6B2D9A-AE6E-E96B-F37C-99CAD662156D}"/>
              </a:ext>
            </a:extLst>
          </p:cNvPr>
          <p:cNvSpPr txBox="1"/>
          <p:nvPr/>
        </p:nvSpPr>
        <p:spPr>
          <a:xfrm>
            <a:off x="2514451" y="5833645"/>
            <a:ext cx="6858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D6A7"/>
                </a:solidFill>
                <a:latin typeface="Calibri"/>
              </a:defRPr>
            </a:pPr>
            <a:r>
              <a:rPr lang="en-US" dirty="0"/>
              <a:t>Presented by :Aya </a:t>
            </a:r>
            <a:r>
              <a:rPr lang="en-US" dirty="0" err="1"/>
              <a:t>Gharsalli</a:t>
            </a:r>
            <a:r>
              <a:rPr lang="en-US" dirty="0"/>
              <a:t>  &amp; Ferdaws Saidi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810104" cy="761999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71450"/>
            <a:ext cx="4476638" cy="419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Data Overview &amp; Quality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238249"/>
            <a:ext cx="4324241" cy="1171575"/>
          </a:xfrm>
          <a:prstGeom prst="roundRect">
            <a:avLst>
              <a:gd name="adj" fmla="val 26016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213026" y="1691956"/>
            <a:ext cx="1171575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8674" y="1543050"/>
            <a:ext cx="571485" cy="571500"/>
          </a:xfrm>
          <a:prstGeom prst="roundRect">
            <a:avLst>
              <a:gd name="adj" fmla="val 4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0119" y="1720214"/>
            <a:ext cx="228594" cy="2171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90655" y="1523999"/>
            <a:ext cx="1828754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0">
                <a:solidFill>
                  <a:srgbClr val="555555"/>
                </a:solidFill>
                <a:latin typeface="Roboto"/>
              </a:rPr>
              <a:t>Time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90655" y="1752599"/>
            <a:ext cx="1828754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B5E20"/>
                </a:solidFill>
                <a:latin typeface="Montserrat"/>
              </a:rPr>
              <a:t>2016 – 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028950"/>
            <a:ext cx="4324241" cy="1171575"/>
          </a:xfrm>
          <a:prstGeom prst="roundRect">
            <a:avLst>
              <a:gd name="adj" fmla="val 26016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213026" y="3482657"/>
            <a:ext cx="1171575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8674" y="3333749"/>
            <a:ext cx="571485" cy="571500"/>
          </a:xfrm>
          <a:prstGeom prst="roundRect">
            <a:avLst>
              <a:gd name="adj" fmla="val 4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119" y="3530917"/>
            <a:ext cx="228594" cy="177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90655" y="3314700"/>
            <a:ext cx="1800179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0">
                <a:solidFill>
                  <a:srgbClr val="555555"/>
                </a:solidFill>
                <a:latin typeface="Roboto"/>
              </a:rPr>
              <a:t>Governorates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0655" y="3543300"/>
            <a:ext cx="1800179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B5E20"/>
                </a:solidFill>
                <a:latin typeface="Montserrat"/>
              </a:rPr>
              <a:t>24 Regions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829175"/>
            <a:ext cx="4324241" cy="1171575"/>
          </a:xfrm>
          <a:prstGeom prst="roundRect">
            <a:avLst>
              <a:gd name="adj" fmla="val 26016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213026" y="5282882"/>
            <a:ext cx="1171575" cy="264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28674" y="5124449"/>
            <a:ext cx="571485" cy="571500"/>
          </a:xfrm>
          <a:prstGeom prst="roundRect">
            <a:avLst>
              <a:gd name="adj" fmla="val 4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0119" y="5307330"/>
            <a:ext cx="228594" cy="20573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790655" y="5114925"/>
            <a:ext cx="2476438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0">
                <a:solidFill>
                  <a:srgbClr val="555555"/>
                </a:solidFill>
                <a:latin typeface="Roboto"/>
              </a:rPr>
              <a:t>Data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0655" y="5343525"/>
            <a:ext cx="2476438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B5E20"/>
                </a:solidFill>
                <a:latin typeface="Montserrat"/>
              </a:rPr>
              <a:t>100% Complete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62460" y="1238249"/>
            <a:ext cx="5962500" cy="47625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52976" y="1628775"/>
            <a:ext cx="518147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1435" b="1">
                <a:solidFill>
                  <a:srgbClr val="2E7D32"/>
                </a:solidFill>
                <a:latin typeface="Robot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2E7D32"/>
                </a:solidFill>
                <a:latin typeface="Roboto"/>
              </a:rPr>
              <a:t> Key Variables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2976" y="1664970"/>
            <a:ext cx="228594" cy="19430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52976" y="2181225"/>
            <a:ext cx="126679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076" b="1">
                <a:solidFill>
                  <a:srgbClr val="333333"/>
                </a:solidFill>
                <a:latin typeface="Roboto"/>
              </a:rPr>
              <a:t>Weather Metrics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52976" y="2638425"/>
            <a:ext cx="1285842" cy="323849"/>
          </a:xfrm>
          <a:prstGeom prst="roundRect">
            <a:avLst>
              <a:gd name="adj" fmla="val 117647"/>
            </a:avLst>
          </a:prstGeom>
          <a:solidFill>
            <a:srgbClr val="FFFFFF"/>
          </a:solidFill>
          <a:ln w="825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52976" y="2638425"/>
            <a:ext cx="1285842" cy="323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0">
                <a:solidFill>
                  <a:srgbClr val="455A64"/>
                </a:solidFill>
                <a:latin typeface="Roboto"/>
              </a:rPr>
              <a:t>Precipitation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43604" y="2743200"/>
            <a:ext cx="152396" cy="130628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5952976" y="3057525"/>
            <a:ext cx="1285842" cy="323849"/>
          </a:xfrm>
          <a:prstGeom prst="roundRect">
            <a:avLst>
              <a:gd name="adj" fmla="val 117647"/>
            </a:avLst>
          </a:prstGeom>
          <a:solidFill>
            <a:srgbClr val="FFFFFF"/>
          </a:solidFill>
          <a:ln w="825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20915" y="3057525"/>
            <a:ext cx="1285842" cy="323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 dirty="0"/>
              <a:t>  </a:t>
            </a:r>
            <a:r>
              <a:rPr sz="837" b="0" dirty="0">
                <a:solidFill>
                  <a:srgbClr val="455A64"/>
                </a:solidFill>
                <a:latin typeface="Roboto"/>
              </a:rPr>
              <a:t>Temperature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70180" y="3184072"/>
            <a:ext cx="152396" cy="130628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7334066" y="3057525"/>
            <a:ext cx="1066773" cy="323849"/>
          </a:xfrm>
          <a:prstGeom prst="roundRect">
            <a:avLst>
              <a:gd name="adj" fmla="val 117647"/>
            </a:avLst>
          </a:prstGeom>
          <a:solidFill>
            <a:srgbClr val="FFFFFF"/>
          </a:solidFill>
          <a:ln w="825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53135" y="3033251"/>
            <a:ext cx="1066773" cy="323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 dirty="0"/>
              <a:t>  </a:t>
            </a:r>
            <a:r>
              <a:rPr sz="837" b="0" dirty="0">
                <a:solidFill>
                  <a:srgbClr val="455A64"/>
                </a:solidFill>
                <a:latin typeface="Roboto"/>
              </a:rPr>
              <a:t>Humidity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95987" y="3154135"/>
            <a:ext cx="152396" cy="130628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5952976" y="3476624"/>
            <a:ext cx="1428714" cy="323849"/>
          </a:xfrm>
          <a:prstGeom prst="roundRect">
            <a:avLst>
              <a:gd name="adj" fmla="val 117647"/>
            </a:avLst>
          </a:prstGeom>
          <a:solidFill>
            <a:srgbClr val="FFFFFF"/>
          </a:solidFill>
          <a:ln w="825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44727" y="3467101"/>
            <a:ext cx="1428714" cy="323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 dirty="0"/>
              <a:t>  </a:t>
            </a:r>
            <a:r>
              <a:rPr sz="837" b="0" dirty="0">
                <a:solidFill>
                  <a:srgbClr val="455A64"/>
                </a:solidFill>
                <a:latin typeface="Roboto"/>
              </a:rPr>
              <a:t>Solar Radiation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84081" y="3578678"/>
            <a:ext cx="152396" cy="141514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5952976" y="3895724"/>
            <a:ext cx="1238219" cy="323849"/>
          </a:xfrm>
          <a:prstGeom prst="roundRect">
            <a:avLst>
              <a:gd name="adj" fmla="val 117647"/>
            </a:avLst>
          </a:prstGeom>
          <a:solidFill>
            <a:srgbClr val="FFFFFF"/>
          </a:solidFill>
          <a:ln w="825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81570" y="3887121"/>
            <a:ext cx="1238219" cy="323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 dirty="0"/>
              <a:t>  </a:t>
            </a:r>
            <a:r>
              <a:rPr sz="837" b="0" dirty="0">
                <a:solidFill>
                  <a:srgbClr val="455A64"/>
                </a:solidFill>
                <a:latin typeface="Roboto"/>
              </a:rPr>
              <a:t>Wind Speed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09435" y="3990534"/>
            <a:ext cx="152396" cy="11702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686582" y="2181225"/>
            <a:ext cx="1543011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076" b="1">
                <a:solidFill>
                  <a:srgbClr val="333333"/>
                </a:solidFill>
                <a:latin typeface="Roboto"/>
              </a:rPr>
              <a:t>Crop Yields (Target)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582" y="2638425"/>
            <a:ext cx="1181070" cy="323849"/>
          </a:xfrm>
          <a:prstGeom prst="roundRect">
            <a:avLst>
              <a:gd name="adj" fmla="val 117647"/>
            </a:avLst>
          </a:prstGeom>
          <a:solidFill>
            <a:srgbClr val="FFFFFF"/>
          </a:solidFill>
          <a:ln w="825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900959" y="2631623"/>
            <a:ext cx="1181070" cy="323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 dirty="0"/>
              <a:t>  </a:t>
            </a:r>
            <a:r>
              <a:rPr sz="837" b="0" dirty="0">
                <a:solidFill>
                  <a:srgbClr val="455A64"/>
                </a:solidFill>
                <a:latin typeface="Roboto"/>
              </a:rPr>
              <a:t>Cereals (T)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848503" y="2743200"/>
            <a:ext cx="152396" cy="114300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9962900" y="2638425"/>
            <a:ext cx="1095347" cy="323849"/>
          </a:xfrm>
          <a:prstGeom prst="roundRect">
            <a:avLst>
              <a:gd name="adj" fmla="val 117647"/>
            </a:avLst>
          </a:prstGeom>
          <a:solidFill>
            <a:srgbClr val="FFFFFF"/>
          </a:solidFill>
          <a:ln w="825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177277" y="2631622"/>
            <a:ext cx="1095347" cy="323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 dirty="0"/>
              <a:t>  </a:t>
            </a:r>
            <a:r>
              <a:rPr sz="837" b="0" dirty="0">
                <a:solidFill>
                  <a:srgbClr val="455A64"/>
                </a:solidFill>
                <a:latin typeface="Roboto"/>
              </a:rPr>
              <a:t>Olives (T)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124821" y="2730953"/>
            <a:ext cx="152396" cy="138792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8686582" y="3057525"/>
            <a:ext cx="1190595" cy="323849"/>
          </a:xfrm>
          <a:prstGeom prst="roundRect">
            <a:avLst>
              <a:gd name="adj" fmla="val 117647"/>
            </a:avLst>
          </a:prstGeom>
          <a:solidFill>
            <a:srgbClr val="FFFFFF"/>
          </a:solidFill>
          <a:ln w="825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900959" y="3057525"/>
            <a:ext cx="1190595" cy="323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 dirty="0"/>
              <a:t>  </a:t>
            </a:r>
            <a:r>
              <a:rPr sz="837" b="0" dirty="0">
                <a:solidFill>
                  <a:srgbClr val="455A64"/>
                </a:solidFill>
                <a:latin typeface="Roboto"/>
              </a:rPr>
              <a:t>Vegetables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848503" y="3154135"/>
            <a:ext cx="152396" cy="130628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9972425" y="3057525"/>
            <a:ext cx="1076298" cy="323849"/>
          </a:xfrm>
          <a:prstGeom prst="roundRect">
            <a:avLst>
              <a:gd name="adj" fmla="val 117647"/>
            </a:avLst>
          </a:prstGeom>
          <a:solidFill>
            <a:srgbClr val="FFFFFF"/>
          </a:solidFill>
          <a:ln w="825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10544" y="3045673"/>
            <a:ext cx="1076298" cy="323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0">
                <a:solidFill>
                  <a:srgbClr val="455A64"/>
                </a:solidFill>
                <a:latin typeface="Roboto"/>
              </a:rPr>
              <a:t>Legumes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134346" y="3154135"/>
            <a:ext cx="152396" cy="130628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8686582" y="3476624"/>
            <a:ext cx="952476" cy="323849"/>
          </a:xfrm>
          <a:prstGeom prst="roundRect">
            <a:avLst>
              <a:gd name="adj" fmla="val 117647"/>
            </a:avLst>
          </a:prstGeom>
          <a:solidFill>
            <a:srgbClr val="FFFFFF"/>
          </a:solidFill>
          <a:ln w="8255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924701" y="3467100"/>
            <a:ext cx="952476" cy="323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 dirty="0"/>
              <a:t>  </a:t>
            </a:r>
            <a:r>
              <a:rPr sz="837" b="0" dirty="0">
                <a:solidFill>
                  <a:srgbClr val="455A64"/>
                </a:solidFill>
                <a:latin typeface="Roboto"/>
              </a:rPr>
              <a:t>Fodder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848503" y="3578678"/>
            <a:ext cx="152396" cy="1197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29174" cy="761999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71450"/>
            <a:ext cx="4695707" cy="419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Exploratory Data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3428914" cy="4952999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52476" y="1428750"/>
            <a:ext cx="476238" cy="476249"/>
          </a:xfrm>
          <a:prstGeom prst="roundRect">
            <a:avLst>
              <a:gd name="adj" fmla="val 4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57248" y="1542221"/>
            <a:ext cx="266693" cy="2493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43011" y="1543050"/>
            <a:ext cx="1638259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B5E20"/>
                </a:solidFill>
                <a:latin typeface="Roboto"/>
              </a:rPr>
              <a:t>Weather Patterns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2476" y="2305049"/>
            <a:ext cx="2857428" cy="428625"/>
          </a:xfrm>
          <a:prstGeom prst="roundRect">
            <a:avLst>
              <a:gd name="adj" fmla="val 35555"/>
            </a:avLst>
          </a:prstGeom>
          <a:solidFill>
            <a:srgbClr val="F9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6773" y="2428875"/>
            <a:ext cx="1038199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  <a:latin typeface="Roboto"/>
              </a:rPr>
              <a:t>Solar Radiation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9309" y="2419349"/>
            <a:ext cx="107629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E7D32"/>
                </a:solidFill>
                <a:latin typeface="Roboto"/>
              </a:rPr>
              <a:t>High Variance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2476" y="2876549"/>
            <a:ext cx="2857428" cy="428625"/>
          </a:xfrm>
          <a:prstGeom prst="roundRect">
            <a:avLst>
              <a:gd name="adj" fmla="val 35555"/>
            </a:avLst>
          </a:prstGeom>
          <a:solidFill>
            <a:srgbClr val="F9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6773" y="3000375"/>
            <a:ext cx="866753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  <a:latin typeface="Roboto"/>
              </a:rPr>
              <a:t>Precipitation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8359" y="2990849"/>
            <a:ext cx="1057248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E7D32"/>
                </a:solidFill>
                <a:latin typeface="Roboto"/>
              </a:rPr>
              <a:t>Right Skewed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2476" y="3448049"/>
            <a:ext cx="2857428" cy="428625"/>
          </a:xfrm>
          <a:prstGeom prst="roundRect">
            <a:avLst>
              <a:gd name="adj" fmla="val 35555"/>
            </a:avLst>
          </a:prstGeom>
          <a:solidFill>
            <a:srgbClr val="F9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6773" y="3571875"/>
            <a:ext cx="866753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  <a:latin typeface="Roboto"/>
              </a:rPr>
              <a:t>Temperature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7448" y="3562349"/>
            <a:ext cx="638159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E7D32"/>
                </a:solidFill>
                <a:latin typeface="Roboto"/>
              </a:rPr>
              <a:t>Bimodal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2476" y="4210049"/>
            <a:ext cx="2857428" cy="600075"/>
          </a:xfrm>
          <a:prstGeom prst="roundRect">
            <a:avLst>
              <a:gd name="adj" fmla="val 25396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8955" y="4176712"/>
            <a:ext cx="2857428" cy="6000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1300"/>
              </a:spcBef>
              <a:spcAft>
                <a:spcPts val="0"/>
              </a:spcAft>
            </a:pPr>
            <a:r>
              <a:rPr sz="837" b="0" dirty="0">
                <a:solidFill>
                  <a:srgbClr val="E65100"/>
                </a:solidFill>
                <a:latin typeface="Roboto"/>
              </a:rPr>
              <a:t> </a:t>
            </a:r>
            <a:r>
              <a:rPr sz="1104" dirty="0"/>
              <a:t>  </a:t>
            </a:r>
            <a:r>
              <a:rPr sz="837" b="0" dirty="0">
                <a:solidFill>
                  <a:srgbClr val="E65100"/>
                </a:solidFill>
                <a:latin typeface="Roboto"/>
              </a:rPr>
              <a:t> Key Insight: Outliers detected in rainfall data (IQR method).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347" y="4373335"/>
            <a:ext cx="152396" cy="130628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381390" y="1143000"/>
            <a:ext cx="3428914" cy="4952999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667133" y="1428750"/>
            <a:ext cx="476238" cy="476249"/>
          </a:xfrm>
          <a:prstGeom prst="roundRect">
            <a:avLst>
              <a:gd name="adj" fmla="val 4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1905" y="1562514"/>
            <a:ext cx="266693" cy="20872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57668" y="1543050"/>
            <a:ext cx="137156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B5E20"/>
                </a:solidFill>
                <a:latin typeface="Roboto"/>
              </a:rPr>
              <a:t>Top Producers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7133" y="2305049"/>
            <a:ext cx="2857428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837" b="0">
                <a:solidFill>
                  <a:srgbClr val="666666"/>
                </a:solidFill>
                <a:latin typeface="Roboto"/>
              </a:rPr>
              <a:t>Estimated Total Production (Tonnes)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7133" y="2619374"/>
            <a:ext cx="952476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55A64"/>
                </a:solidFill>
                <a:latin typeface="Roboto"/>
              </a:rPr>
              <a:t>Sfax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2480" y="2600325"/>
            <a:ext cx="1619209" cy="190499"/>
          </a:xfrm>
          <a:prstGeom prst="roundRect">
            <a:avLst>
              <a:gd name="adj" fmla="val 10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762480" y="2600325"/>
            <a:ext cx="1543011" cy="190499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66BB6A"/>
              </a:gs>
              <a:gs pos="100000">
                <a:srgbClr val="43A047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67133" y="2924175"/>
            <a:ext cx="952476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55A64"/>
                </a:solidFill>
                <a:latin typeface="Roboto"/>
              </a:rPr>
              <a:t>Kairouan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2480" y="2905124"/>
            <a:ext cx="1619209" cy="190499"/>
          </a:xfrm>
          <a:prstGeom prst="roundRect">
            <a:avLst>
              <a:gd name="adj" fmla="val 10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762480" y="2905124"/>
            <a:ext cx="1295367" cy="190499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66BB6A"/>
              </a:gs>
              <a:gs pos="100000">
                <a:srgbClr val="43A047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67133" y="3228975"/>
            <a:ext cx="952476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55A64"/>
                </a:solidFill>
                <a:latin typeface="Roboto"/>
              </a:rPr>
              <a:t>Béja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2480" y="3209925"/>
            <a:ext cx="1619209" cy="190499"/>
          </a:xfrm>
          <a:prstGeom prst="roundRect">
            <a:avLst>
              <a:gd name="adj" fmla="val 10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762480" y="3209925"/>
            <a:ext cx="1133446" cy="190499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66BB6A"/>
              </a:gs>
              <a:gs pos="100000">
                <a:srgbClr val="43A047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67133" y="3533774"/>
            <a:ext cx="952476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55A64"/>
                </a:solidFill>
                <a:latin typeface="Roboto"/>
              </a:rPr>
              <a:t>Jendouba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62480" y="3514725"/>
            <a:ext cx="1619209" cy="190499"/>
          </a:xfrm>
          <a:prstGeom prst="roundRect">
            <a:avLst>
              <a:gd name="adj" fmla="val 10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762480" y="3514725"/>
            <a:ext cx="971525" cy="190499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66BB6A"/>
              </a:gs>
              <a:gs pos="100000">
                <a:srgbClr val="43A047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67133" y="3838574"/>
            <a:ext cx="952476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55A64"/>
                </a:solidFill>
                <a:latin typeface="Roboto"/>
              </a:rPr>
              <a:t>Sousse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2480" y="3819524"/>
            <a:ext cx="1619209" cy="190499"/>
          </a:xfrm>
          <a:prstGeom prst="roundRect">
            <a:avLst>
              <a:gd name="adj" fmla="val 10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762480" y="3819524"/>
            <a:ext cx="895327" cy="190499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66BB6A"/>
              </a:gs>
              <a:gs pos="100000">
                <a:srgbClr val="43A047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096047" y="1143000"/>
            <a:ext cx="3428914" cy="4952999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381790" y="1428750"/>
            <a:ext cx="476238" cy="476249"/>
          </a:xfrm>
          <a:prstGeom prst="roundRect">
            <a:avLst>
              <a:gd name="adj" fmla="val 4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86562" y="1588604"/>
            <a:ext cx="266693" cy="156541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972325" y="1543050"/>
            <a:ext cx="117154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B5E20"/>
                </a:solidFill>
                <a:latin typeface="Roboto"/>
              </a:rPr>
              <a:t>Yield Trends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1790" y="2527788"/>
            <a:ext cx="304792" cy="16412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829454" y="2562224"/>
            <a:ext cx="2219269" cy="333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Roboto"/>
              </a:rPr>
              <a:t>Fluctuating yield, highly dependent on seasonal rainfall.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81790" y="3273669"/>
            <a:ext cx="304792" cy="23446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829454" y="3352800"/>
            <a:ext cx="2066873" cy="333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Roboto"/>
              </a:rPr>
              <a:t>Stable production, major economic contributor.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81790" y="4082561"/>
            <a:ext cx="304792" cy="21687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829454" y="4143375"/>
            <a:ext cx="2162120" cy="333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Roboto"/>
              </a:rPr>
              <a:t>Gradual increase in average yield per hectare.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86222" cy="761999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71450"/>
            <a:ext cx="3752756" cy="419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238249"/>
            <a:ext cx="10858228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555555"/>
                </a:solidFill>
                <a:latin typeface="Roboto"/>
              </a:rPr>
              <a:t> Transforming raw sensor data into </a:t>
            </a:r>
            <a:r>
              <a:rPr sz="1076" b="1">
                <a:solidFill>
                  <a:srgbClr val="1B5E20"/>
                </a:solidFill>
                <a:latin typeface="Roboto"/>
              </a:rPr>
              <a:t>agriculturally meaningful features</a:t>
            </a:r>
            <a:r>
              <a:rPr sz="1076" b="0">
                <a:solidFill>
                  <a:srgbClr val="555555"/>
                </a:solidFill>
                <a:latin typeface="Roboto"/>
              </a:rPr>
              <a:t> to improve model context and capture non-linear relationships.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990724"/>
            <a:ext cx="2533586" cy="3286125"/>
          </a:xfrm>
          <a:prstGeom prst="roundRect">
            <a:avLst>
              <a:gd name="adj" fmla="val 12030"/>
            </a:avLst>
          </a:prstGeom>
          <a:solidFill>
            <a:srgbClr val="F9FBE7"/>
          </a:solidFill>
          <a:ln w="412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647783" y="227647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9229" y="2465070"/>
            <a:ext cx="228594" cy="194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19209" y="3038475"/>
            <a:ext cx="638159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196" b="1">
                <a:solidFill>
                  <a:srgbClr val="1B5E20"/>
                </a:solidFill>
                <a:latin typeface="Roboto"/>
              </a:rPr>
              <a:t>Season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28" y="3409950"/>
            <a:ext cx="2152596" cy="6000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1300"/>
              </a:spcAft>
            </a:pPr>
            <a:r>
              <a:rPr sz="837" b="0">
                <a:solidFill>
                  <a:srgbClr val="555555"/>
                </a:solidFill>
                <a:latin typeface="Roboto"/>
              </a:rPr>
              <a:t>Classifies temperature into seasonal categories for crop-specific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28" y="4200525"/>
            <a:ext cx="2152596" cy="457200"/>
          </a:xfrm>
          <a:prstGeom prst="roundRect">
            <a:avLst>
              <a:gd name="adj" fmla="val 33333"/>
            </a:avLst>
          </a:prstGeom>
          <a:solidFill>
            <a:srgbClr val="2E7D3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7228" y="4200525"/>
            <a:ext cx="2152596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2E7D32"/>
                </a:solidFill>
                <a:latin typeface="Roboto Mono"/>
              </a:rPr>
              <a:t>Temp &lt; 10°C → Winter</a:t>
            </a:r>
            <a:r>
              <a:rPr sz="1104"/>
              <a:t>
</a:t>
            </a:r>
            <a:r>
              <a:rPr sz="717" b="0">
                <a:solidFill>
                  <a:srgbClr val="2E7D32"/>
                </a:solidFill>
                <a:latin typeface="Roboto Mono"/>
              </a:rPr>
              <a:t>Temp &gt; 18°C → Summer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439" y="1990724"/>
            <a:ext cx="2533586" cy="3286125"/>
          </a:xfrm>
          <a:prstGeom prst="roundRect">
            <a:avLst>
              <a:gd name="adj" fmla="val 12030"/>
            </a:avLst>
          </a:prstGeom>
          <a:solidFill>
            <a:srgbClr val="F9FBE7"/>
          </a:solidFill>
          <a:ln w="412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19489" y="227647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0935" y="2467927"/>
            <a:ext cx="228594" cy="18859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19469" y="3038475"/>
            <a:ext cx="98105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196" b="1">
                <a:solidFill>
                  <a:srgbClr val="1B5E20"/>
                </a:solidFill>
                <a:latin typeface="Roboto"/>
              </a:rPr>
              <a:t>Rainfall Bin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8934" y="3409950"/>
            <a:ext cx="2152596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1300"/>
              </a:spcAft>
            </a:pPr>
            <a:r>
              <a:rPr sz="837" b="0">
                <a:solidFill>
                  <a:srgbClr val="555555"/>
                </a:solidFill>
                <a:latin typeface="Roboto"/>
              </a:rPr>
              <a:t>Groups precipitation intensity into manageable buckets.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28934" y="4000500"/>
            <a:ext cx="2152596" cy="590549"/>
          </a:xfrm>
          <a:prstGeom prst="roundRect">
            <a:avLst>
              <a:gd name="adj" fmla="val 25806"/>
            </a:avLst>
          </a:prstGeom>
          <a:solidFill>
            <a:srgbClr val="2E7D3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28934" y="4000500"/>
            <a:ext cx="2152596" cy="5905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2E7D32"/>
                </a:solidFill>
                <a:latin typeface="Roboto Mono"/>
              </a:rPr>
              <a:t>0 → No Rain</a:t>
            </a:r>
            <a:r>
              <a:rPr sz="1104"/>
              <a:t>
</a:t>
            </a:r>
            <a:r>
              <a:rPr sz="717" b="0">
                <a:solidFill>
                  <a:srgbClr val="2E7D32"/>
                </a:solidFill>
                <a:latin typeface="Roboto Mono"/>
              </a:rPr>
              <a:t>0-2mm → Trace</a:t>
            </a:r>
            <a:r>
              <a:rPr sz="1104"/>
              <a:t>
</a:t>
            </a:r>
            <a:r>
              <a:rPr sz="717" b="0">
                <a:solidFill>
                  <a:srgbClr val="2E7D32"/>
                </a:solidFill>
                <a:latin typeface="Roboto Mono"/>
              </a:rPr>
              <a:t>&gt;30mm → Heavy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4" y="1990724"/>
            <a:ext cx="2533586" cy="3286125"/>
          </a:xfrm>
          <a:prstGeom prst="roundRect">
            <a:avLst>
              <a:gd name="adj" fmla="val 12030"/>
            </a:avLst>
          </a:prstGeom>
          <a:solidFill>
            <a:srgbClr val="F9FBE7"/>
          </a:solidFill>
          <a:ln w="412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200719" y="227647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2165" y="2455068"/>
            <a:ext cx="228594" cy="21431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00699" y="3038475"/>
            <a:ext cx="96200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196" b="1">
                <a:solidFill>
                  <a:srgbClr val="1B5E20"/>
                </a:solidFill>
                <a:latin typeface="Roboto"/>
              </a:rPr>
              <a:t>Temp Zone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639" y="3409950"/>
            <a:ext cx="2152596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1300"/>
              </a:spcAft>
            </a:pPr>
            <a:r>
              <a:rPr sz="837" b="0">
                <a:solidFill>
                  <a:srgbClr val="555555"/>
                </a:solidFill>
                <a:latin typeface="Roboto"/>
              </a:rPr>
              <a:t>Categorizes thermal comfort zones suitable for specific crops.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639" y="4000500"/>
            <a:ext cx="2152596" cy="323849"/>
          </a:xfrm>
          <a:prstGeom prst="roundRect">
            <a:avLst>
              <a:gd name="adj" fmla="val 47058"/>
            </a:avLst>
          </a:prstGeom>
          <a:solidFill>
            <a:srgbClr val="2E7D3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639" y="4000500"/>
            <a:ext cx="2152596" cy="323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2E7D32"/>
                </a:solidFill>
                <a:latin typeface="Roboto Mono"/>
              </a:rPr>
              <a:t>Cold | Mild | Warm | Hot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91375" y="1990724"/>
            <a:ext cx="2533586" cy="3286125"/>
          </a:xfrm>
          <a:prstGeom prst="roundRect">
            <a:avLst>
              <a:gd name="adj" fmla="val 12030"/>
            </a:avLst>
          </a:prstGeom>
          <a:solidFill>
            <a:srgbClr val="F9FBE7"/>
          </a:solidFill>
          <a:ln w="412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972425" y="227647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43871" y="2459355"/>
            <a:ext cx="228594" cy="20573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800979" y="3038475"/>
            <a:ext cx="92390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196" b="1">
                <a:solidFill>
                  <a:srgbClr val="1B5E20"/>
                </a:solidFill>
                <a:latin typeface="Roboto"/>
              </a:rPr>
              <a:t>Heat Index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1870" y="3409950"/>
            <a:ext cx="2152596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365"/>
              </a:lnSpc>
              <a:spcBef>
                <a:spcPts val="0"/>
              </a:spcBef>
              <a:spcAft>
                <a:spcPts val="1300"/>
              </a:spcAft>
            </a:pPr>
            <a:r>
              <a:rPr sz="837" b="0">
                <a:solidFill>
                  <a:srgbClr val="555555"/>
                </a:solidFill>
                <a:latin typeface="Roboto"/>
              </a:rPr>
              <a:t>Interaction term modeling "feels like" temperature stress.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1870" y="4000500"/>
            <a:ext cx="2152596" cy="323849"/>
          </a:xfrm>
          <a:prstGeom prst="roundRect">
            <a:avLst>
              <a:gd name="adj" fmla="val 47058"/>
            </a:avLst>
          </a:prstGeom>
          <a:solidFill>
            <a:srgbClr val="2E7D3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81870" y="4000500"/>
            <a:ext cx="2152596" cy="323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2E7D32"/>
                </a:solidFill>
                <a:latin typeface="Roboto Mono"/>
              </a:rPr>
              <a:t>Temp × (1 + Humidity/100)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648283" cy="761999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71450"/>
            <a:ext cx="5314817" cy="419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Modeling Pipeline &amp;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8239" y="1190284"/>
            <a:ext cx="2505012" cy="4952999"/>
          </a:xfrm>
          <a:prstGeom prst="roundRect">
            <a:avLst>
              <a:gd name="adj" fmla="val 1520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3981" y="1533184"/>
            <a:ext cx="495287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1F8E9"/>
                </a:solidFill>
                <a:latin typeface="Montserrat"/>
              </a:rPr>
              <a:t>01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22140" y="1543875"/>
            <a:ext cx="561960" cy="4358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5487" y="1495083"/>
            <a:ext cx="1162020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E7D32"/>
                </a:solidFill>
                <a:latin typeface="Roboto"/>
              </a:rPr>
              <a:t>Feature 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3981" y="2476158"/>
            <a:ext cx="1933526" cy="457200"/>
          </a:xfrm>
          <a:prstGeom prst="roundRect">
            <a:avLst>
              <a:gd name="adj" fmla="val 33333"/>
            </a:avLst>
          </a:prstGeom>
          <a:solidFill>
            <a:srgbClr val="F9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6853" y="2476158"/>
            <a:ext cx="1933526" cy="45720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104" dirty="0"/>
              <a:t>  </a:t>
            </a:r>
            <a:r>
              <a:rPr sz="956" b="0" dirty="0">
                <a:solidFill>
                  <a:srgbClr val="455A64"/>
                </a:solidFill>
                <a:latin typeface="Roboto"/>
              </a:rPr>
              <a:t> Weather Metrics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279" y="2607604"/>
            <a:ext cx="228594" cy="19430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83981" y="3076233"/>
            <a:ext cx="1933526" cy="457200"/>
          </a:xfrm>
          <a:prstGeom prst="roundRect">
            <a:avLst>
              <a:gd name="adj" fmla="val 33333"/>
            </a:avLst>
          </a:prstGeom>
          <a:solidFill>
            <a:srgbClr val="F9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8534" y="3076233"/>
            <a:ext cx="1933526" cy="45720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104" dirty="0"/>
              <a:t>  </a:t>
            </a:r>
            <a:r>
              <a:rPr sz="956" b="0" dirty="0">
                <a:solidFill>
                  <a:srgbClr val="455A64"/>
                </a:solidFill>
                <a:latin typeface="Roboto"/>
              </a:rPr>
              <a:t> Solar &amp; Wind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8279" y="3197677"/>
            <a:ext cx="228594" cy="21431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83981" y="3676308"/>
            <a:ext cx="1933526" cy="590549"/>
          </a:xfrm>
          <a:prstGeom prst="roundRect">
            <a:avLst>
              <a:gd name="adj" fmla="val 25806"/>
            </a:avLst>
          </a:prstGeom>
          <a:solidFill>
            <a:srgbClr val="F9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6852" y="3676308"/>
            <a:ext cx="1933526" cy="590549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104"/>
              <a:t>  </a:t>
            </a:r>
            <a:r>
              <a:rPr sz="956" b="0">
                <a:solidFill>
                  <a:srgbClr val="455A64"/>
                </a:solidFill>
                <a:latin typeface="Roboto"/>
              </a:rPr>
              <a:t> Engineered Features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8279" y="3885859"/>
            <a:ext cx="228594" cy="17145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83981" y="4409733"/>
            <a:ext cx="1933526" cy="457200"/>
          </a:xfrm>
          <a:prstGeom prst="roundRect">
            <a:avLst>
              <a:gd name="adj" fmla="val 33333"/>
            </a:avLst>
          </a:prstGeom>
          <a:solidFill>
            <a:srgbClr val="F9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5427" y="4409733"/>
            <a:ext cx="1933526" cy="45720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104"/>
              <a:t>  </a:t>
            </a:r>
            <a:r>
              <a:rPr sz="956" b="0">
                <a:solidFill>
                  <a:srgbClr val="455A64"/>
                </a:solidFill>
                <a:latin typeface="Roboto"/>
              </a:rPr>
              <a:t> Location Data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8279" y="4541179"/>
            <a:ext cx="228594" cy="194309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83981" y="5009808"/>
            <a:ext cx="1933526" cy="457200"/>
          </a:xfrm>
          <a:prstGeom prst="roundRect">
            <a:avLst>
              <a:gd name="adj" fmla="val 33333"/>
            </a:avLst>
          </a:prstGeom>
          <a:solidFill>
            <a:srgbClr val="F9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8534" y="5015338"/>
            <a:ext cx="1933526" cy="457200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104" dirty="0"/>
              <a:t>  </a:t>
            </a:r>
            <a:r>
              <a:rPr sz="956" b="0" dirty="0">
                <a:solidFill>
                  <a:srgbClr val="455A64"/>
                </a:solidFill>
                <a:latin typeface="Roboto"/>
              </a:rPr>
              <a:t> Temporal Info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8279" y="5129824"/>
            <a:ext cx="228594" cy="21717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83981" y="5724183"/>
            <a:ext cx="1933526" cy="1333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E9E9E"/>
                </a:solidFill>
                <a:latin typeface="Roboto"/>
              </a:rPr>
              <a:t>Total: 11 Features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09" y="1228725"/>
            <a:ext cx="2505012" cy="4952999"/>
          </a:xfrm>
          <a:prstGeom prst="roundRect">
            <a:avLst>
              <a:gd name="adj" fmla="val 1520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46252" y="1543051"/>
            <a:ext cx="581010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1F8E9"/>
                </a:solidFill>
                <a:latin typeface="Montserrat"/>
              </a:rPr>
              <a:t>02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70134" y="1636065"/>
            <a:ext cx="285742" cy="27117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27262" y="1638301"/>
            <a:ext cx="148586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E7D32"/>
                </a:solidFill>
                <a:latin typeface="Roboto"/>
              </a:rPr>
              <a:t>Preprocessing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46252" y="2295526"/>
            <a:ext cx="1933526" cy="590549"/>
          </a:xfrm>
          <a:prstGeom prst="roundRect">
            <a:avLst>
              <a:gd name="adj" fmla="val 25806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36737" y="2282006"/>
            <a:ext cx="1933526" cy="590549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104" dirty="0"/>
              <a:t>  </a:t>
            </a:r>
            <a:r>
              <a:rPr sz="956" b="0" dirty="0">
                <a:solidFill>
                  <a:srgbClr val="455A64"/>
                </a:solidFill>
                <a:latin typeface="Roboto"/>
              </a:rPr>
              <a:t> </a:t>
            </a:r>
            <a:r>
              <a:rPr sz="956" b="0" dirty="0" err="1">
                <a:solidFill>
                  <a:srgbClr val="455A64"/>
                </a:solidFill>
                <a:latin typeface="Roboto"/>
              </a:rPr>
              <a:t>StandardScaler</a:t>
            </a:r>
            <a:r>
              <a:rPr sz="956" b="0" dirty="0">
                <a:solidFill>
                  <a:srgbClr val="455A64"/>
                </a:solidFill>
                <a:latin typeface="Roboto"/>
              </a:rPr>
              <a:t> (Numeric)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60549" y="2482216"/>
            <a:ext cx="228594" cy="21717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4446252" y="3028950"/>
            <a:ext cx="1933526" cy="590549"/>
          </a:xfrm>
          <a:prstGeom prst="roundRect">
            <a:avLst>
              <a:gd name="adj" fmla="val 25806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50279" y="3015430"/>
            <a:ext cx="1933526" cy="590549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104" dirty="0"/>
              <a:t>  </a:t>
            </a:r>
            <a:r>
              <a:rPr sz="956" b="0" dirty="0">
                <a:solidFill>
                  <a:srgbClr val="455A64"/>
                </a:solidFill>
                <a:latin typeface="Roboto"/>
              </a:rPr>
              <a:t> </a:t>
            </a:r>
            <a:r>
              <a:rPr sz="956" b="0" dirty="0" err="1">
                <a:solidFill>
                  <a:srgbClr val="455A64"/>
                </a:solidFill>
                <a:latin typeface="Roboto"/>
              </a:rPr>
              <a:t>LabelEncoder</a:t>
            </a:r>
            <a:r>
              <a:rPr sz="956" b="0" dirty="0">
                <a:solidFill>
                  <a:srgbClr val="455A64"/>
                </a:solidFill>
                <a:latin typeface="Roboto"/>
              </a:rPr>
              <a:t> (Categorical)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60549" y="3252788"/>
            <a:ext cx="228594" cy="142875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4446252" y="4924426"/>
            <a:ext cx="1933526" cy="942975"/>
          </a:xfrm>
          <a:prstGeom prst="roundRect">
            <a:avLst>
              <a:gd name="adj" fmla="val 24242"/>
            </a:avLst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36747" y="5114926"/>
            <a:ext cx="1552536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837" b="1">
                <a:solidFill>
                  <a:srgbClr val="F57C00"/>
                </a:solidFill>
                <a:latin typeface="Roboto"/>
              </a:rPr>
              <a:t>TRAIN / TEST SPLIT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46272" y="5314951"/>
            <a:ext cx="571485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B5E20"/>
                </a:solidFill>
                <a:latin typeface="Roboto"/>
              </a:rPr>
              <a:t>80%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13005" y="5381626"/>
            <a:ext cx="19049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757575"/>
                </a:solidFill>
                <a:latin typeface="Roboto"/>
              </a:rPr>
              <a:t>vs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98748" y="5314951"/>
            <a:ext cx="571485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D32F2F"/>
                </a:solidFill>
                <a:latin typeface="Roboto"/>
              </a:rPr>
              <a:t>20%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90088" y="1234977"/>
            <a:ext cx="2505012" cy="4952999"/>
          </a:xfrm>
          <a:prstGeom prst="roundRect">
            <a:avLst>
              <a:gd name="adj" fmla="val 1520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75830" y="1577877"/>
            <a:ext cx="581010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1F8E9"/>
                </a:solidFill>
                <a:latin typeface="Montserrat"/>
              </a:rPr>
              <a:t>03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999712" y="1561548"/>
            <a:ext cx="571485" cy="48985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142584" y="1673127"/>
            <a:ext cx="100009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E7D32"/>
                </a:solidFill>
                <a:latin typeface="Roboto"/>
              </a:rPr>
              <a:t>Baselines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75830" y="2558952"/>
            <a:ext cx="1933526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428227" y="2991240"/>
            <a:ext cx="304792" cy="164123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875890" y="2711352"/>
            <a:ext cx="1181070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  <a:latin typeface="Roboto"/>
              </a:rPr>
              <a:t>Linear Regression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75890" y="3149501"/>
            <a:ext cx="1181070" cy="285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26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Roboto"/>
              </a:rPr>
              <a:t>Interpretable baseline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75830" y="3730527"/>
            <a:ext cx="1933526" cy="828675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428227" y="4032396"/>
            <a:ext cx="304792" cy="23446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875890" y="3882926"/>
            <a:ext cx="1181070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33333"/>
                </a:solidFill>
                <a:latin typeface="Roboto"/>
              </a:rPr>
              <a:t>Decision Tree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75890" y="4121052"/>
            <a:ext cx="1181070" cy="285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26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Roboto"/>
              </a:rPr>
              <a:t>Non-linear relationships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75830" y="4702077"/>
            <a:ext cx="1933526" cy="828675"/>
          </a:xfrm>
          <a:prstGeom prst="roundRect">
            <a:avLst>
              <a:gd name="adj" fmla="val 27586"/>
            </a:avLst>
          </a:prstGeom>
          <a:solidFill>
            <a:srgbClr val="F1F8E9"/>
          </a:solidFill>
          <a:ln w="8255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428227" y="4992223"/>
            <a:ext cx="304792" cy="25790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875890" y="4854476"/>
            <a:ext cx="1181070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B5E20"/>
                </a:solidFill>
                <a:latin typeface="Roboto"/>
              </a:rPr>
              <a:t>Random Forest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75890" y="5092602"/>
            <a:ext cx="1181070" cy="285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260"/>
              </a:spcBef>
              <a:spcAft>
                <a:spcPts val="0"/>
              </a:spcAft>
            </a:pPr>
            <a:r>
              <a:rPr sz="777" b="0">
                <a:solidFill>
                  <a:srgbClr val="757575"/>
                </a:solidFill>
                <a:latin typeface="Roboto"/>
              </a:rPr>
              <a:t>Ensemble method (Strongest)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10164" cy="761999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71450"/>
            <a:ext cx="5076698" cy="419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Baseline Model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238249"/>
            <a:ext cx="2800279" cy="5143500"/>
          </a:xfrm>
          <a:prstGeom prst="roundRect">
            <a:avLst>
              <a:gd name="adj" fmla="val 13605"/>
            </a:avLst>
          </a:prstGeom>
          <a:solidFill>
            <a:srgbClr val="FFFFFF"/>
          </a:solidFill>
          <a:ln w="1651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71525" y="1571625"/>
            <a:ext cx="514337" cy="571500"/>
          </a:xfrm>
          <a:prstGeom prst="roundRect">
            <a:avLst>
              <a:gd name="adj" fmla="val 44444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4397" y="1788795"/>
            <a:ext cx="228594" cy="1371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28734" y="1543050"/>
            <a:ext cx="1533486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333333"/>
                </a:solidFill>
                <a:latin typeface="Roboto"/>
              </a:rPr>
              <a:t>Linear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8734" y="2019299"/>
            <a:ext cx="1533486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88888"/>
                </a:solidFill>
                <a:latin typeface="Roboto"/>
              </a:rPr>
              <a:t>Simple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1525" y="2571750"/>
            <a:ext cx="2190695" cy="1009649"/>
          </a:xfrm>
          <a:prstGeom prst="roundRect">
            <a:avLst>
              <a:gd name="adj" fmla="val 22641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4397" y="2714625"/>
            <a:ext cx="504812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88888"/>
                </a:solidFill>
                <a:latin typeface="Roboto"/>
              </a:rPr>
              <a:t>R²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6398" y="2714625"/>
            <a:ext cx="942951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88888"/>
                </a:solidFill>
                <a:latin typeface="Roboto"/>
              </a:rPr>
              <a:t>Goodness of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397" y="2914650"/>
            <a:ext cx="1904952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976D2"/>
                </a:solidFill>
                <a:latin typeface="Montserrat"/>
              </a:rPr>
              <a:t>0.45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4397" y="3362324"/>
            <a:ext cx="1904952" cy="76200"/>
          </a:xfrm>
          <a:prstGeom prst="roundRect">
            <a:avLst>
              <a:gd name="adj" fmla="val 10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114397" y="3362324"/>
            <a:ext cx="857228" cy="76200"/>
          </a:xfrm>
          <a:prstGeom prst="roundRect">
            <a:avLst>
              <a:gd name="adj" fmla="val 100000"/>
            </a:avLst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71525" y="3771900"/>
            <a:ext cx="2190695" cy="1009649"/>
          </a:xfrm>
          <a:prstGeom prst="roundRect">
            <a:avLst>
              <a:gd name="adj" fmla="val 22641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4397" y="3914775"/>
            <a:ext cx="352416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88888"/>
                </a:solidFill>
                <a:latin typeface="Roboto"/>
              </a:rPr>
              <a:t>RMSE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6853" y="3914775"/>
            <a:ext cx="1152496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88888"/>
                </a:solidFill>
                <a:latin typeface="Roboto"/>
              </a:rPr>
              <a:t>Root Mean Sq 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4397" y="4114800"/>
            <a:ext cx="1904952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976D2"/>
                </a:solidFill>
                <a:latin typeface="Montserrat"/>
              </a:rPr>
              <a:t>High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14397" y="4562475"/>
            <a:ext cx="1904952" cy="76200"/>
          </a:xfrm>
          <a:prstGeom prst="roundRect">
            <a:avLst>
              <a:gd name="adj" fmla="val 10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114397" y="4562475"/>
            <a:ext cx="1523961" cy="76200"/>
          </a:xfrm>
          <a:prstGeom prst="roundRect">
            <a:avLst>
              <a:gd name="adj" fmla="val 100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71525" y="5734050"/>
            <a:ext cx="2190695" cy="342900"/>
          </a:xfrm>
          <a:prstGeom prst="roundRect">
            <a:avLst>
              <a:gd name="adj" fmla="val 44444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1525" y="5734050"/>
            <a:ext cx="219069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4485"/>
              </a:spcBef>
              <a:spcAft>
                <a:spcPts val="0"/>
              </a:spcAft>
            </a:pPr>
            <a:r>
              <a:rPr sz="837" b="1">
                <a:solidFill>
                  <a:srgbClr val="1565C0"/>
                </a:solidFill>
                <a:latin typeface="Roboto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1565C0"/>
                </a:solidFill>
                <a:latin typeface="Roboto"/>
              </a:rPr>
              <a:t> Underfitting Data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6813" y="5856351"/>
            <a:ext cx="133346" cy="11734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752756" y="1238249"/>
            <a:ext cx="2800279" cy="5143500"/>
          </a:xfrm>
          <a:prstGeom prst="roundRect">
            <a:avLst>
              <a:gd name="adj" fmla="val 13605"/>
            </a:avLst>
          </a:prstGeom>
          <a:solidFill>
            <a:srgbClr val="FFFFFF"/>
          </a:solidFill>
          <a:ln w="16510">
            <a:solidFill>
              <a:srgbClr val="CE9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057548" y="1543050"/>
            <a:ext cx="571485" cy="571500"/>
          </a:xfrm>
          <a:prstGeom prst="roundRect">
            <a:avLst>
              <a:gd name="adj" fmla="val 40000"/>
            </a:avLst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8994" y="1740217"/>
            <a:ext cx="228594" cy="1771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71905" y="1638299"/>
            <a:ext cx="1285842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333333"/>
                </a:solidFill>
                <a:latin typeface="Roboto"/>
              </a:rPr>
              <a:t>Decision Tree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1905" y="1866899"/>
            <a:ext cx="1285842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88888"/>
                </a:solidFill>
                <a:latin typeface="Roboto"/>
              </a:rPr>
              <a:t>Non-Linear Model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57548" y="2514600"/>
            <a:ext cx="2190695" cy="1009649"/>
          </a:xfrm>
          <a:prstGeom prst="roundRect">
            <a:avLst>
              <a:gd name="adj" fmla="val 22641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00419" y="2657475"/>
            <a:ext cx="457188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88888"/>
                </a:solidFill>
                <a:latin typeface="Roboto"/>
              </a:rPr>
              <a:t>R² Train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14837" y="2657475"/>
            <a:ext cx="581010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88888"/>
                </a:solidFill>
                <a:latin typeface="Roboto"/>
              </a:rPr>
              <a:t>vs R²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0419" y="2857500"/>
            <a:ext cx="685782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7B1FA2"/>
                </a:solidFill>
                <a:latin typeface="Montserrat"/>
              </a:rPr>
              <a:t>0.99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38599" y="2857500"/>
            <a:ext cx="190495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888888"/>
                </a:solidFill>
                <a:latin typeface="Montserrat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1015" y="2857500"/>
            <a:ext cx="704832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C62828"/>
                </a:solidFill>
                <a:latin typeface="Montserrat"/>
              </a:rPr>
              <a:t>0.80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0419" y="3305174"/>
            <a:ext cx="1904952" cy="76200"/>
          </a:xfrm>
          <a:prstGeom prst="roundRect">
            <a:avLst>
              <a:gd name="adj" fmla="val 10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200419" y="3305174"/>
            <a:ext cx="1523961" cy="76200"/>
          </a:xfrm>
          <a:prstGeom prst="roundRect">
            <a:avLst>
              <a:gd name="adj" fmla="val 100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057548" y="3714750"/>
            <a:ext cx="2190695" cy="1009649"/>
          </a:xfrm>
          <a:prstGeom prst="roundRect">
            <a:avLst>
              <a:gd name="adj" fmla="val 22641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00419" y="3857625"/>
            <a:ext cx="352416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88888"/>
                </a:solidFill>
                <a:latin typeface="Roboto"/>
              </a:rPr>
              <a:t>RMSE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10084" y="3857625"/>
            <a:ext cx="485762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88888"/>
                </a:solidFill>
                <a:latin typeface="Roboto"/>
              </a:rPr>
              <a:t>Test Set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0419" y="4057650"/>
            <a:ext cx="1904952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7B1FA2"/>
                </a:solidFill>
                <a:latin typeface="Montserrat"/>
              </a:rPr>
              <a:t>Medium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00419" y="4505325"/>
            <a:ext cx="1904952" cy="76200"/>
          </a:xfrm>
          <a:prstGeom prst="roundRect">
            <a:avLst>
              <a:gd name="adj" fmla="val 10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200419" y="4505325"/>
            <a:ext cx="952476" cy="76200"/>
          </a:xfrm>
          <a:prstGeom prst="roundRect">
            <a:avLst>
              <a:gd name="adj" fmla="val 100000"/>
            </a:avLst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057548" y="5734050"/>
            <a:ext cx="2190695" cy="342900"/>
          </a:xfrm>
          <a:prstGeom prst="roundRect">
            <a:avLst>
              <a:gd name="adj" fmla="val 44444"/>
            </a:avLst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057548" y="5734050"/>
            <a:ext cx="219069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4875"/>
              </a:spcBef>
              <a:spcAft>
                <a:spcPts val="0"/>
              </a:spcAft>
            </a:pPr>
            <a:r>
              <a:rPr sz="837" b="1">
                <a:solidFill>
                  <a:srgbClr val="C62828"/>
                </a:solidFill>
                <a:latin typeface="Roboto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C62828"/>
                </a:solidFill>
                <a:latin typeface="Roboto"/>
              </a:rPr>
              <a:t> Severe Overfitting 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4261" y="5859018"/>
            <a:ext cx="133346" cy="112014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6829254" y="1238249"/>
            <a:ext cx="2800279" cy="5143500"/>
          </a:xfrm>
          <a:prstGeom prst="roundRect">
            <a:avLst>
              <a:gd name="adj" fmla="val 13605"/>
            </a:avLst>
          </a:prstGeom>
          <a:solidFill>
            <a:srgbClr val="FFFFFF"/>
          </a:solidFill>
          <a:ln w="1651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543611" y="1114425"/>
            <a:ext cx="1381090" cy="400050"/>
          </a:xfrm>
          <a:prstGeom prst="roundRect">
            <a:avLst>
              <a:gd name="adj" fmla="val 95238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759450" y="1114425"/>
            <a:ext cx="1381090" cy="4000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 dirty="0">
                <a:solidFill>
                  <a:srgbClr val="FFFFFF"/>
                </a:solidFill>
                <a:latin typeface="Roboto"/>
              </a:rPr>
              <a:t> </a:t>
            </a:r>
            <a:r>
              <a:rPr sz="1104" dirty="0"/>
              <a:t>  </a:t>
            </a:r>
            <a:r>
              <a:rPr sz="837" b="1" dirty="0">
                <a:solidFill>
                  <a:srgbClr val="FFFFFF"/>
                </a:solidFill>
                <a:latin typeface="Roboto"/>
              </a:rPr>
              <a:t> Top Performer 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34106" y="1254578"/>
            <a:ext cx="152396" cy="119742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7134046" y="1543050"/>
            <a:ext cx="571485" cy="571500"/>
          </a:xfrm>
          <a:prstGeom prst="roundRect">
            <a:avLst>
              <a:gd name="adj" fmla="val 4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05492" y="1731645"/>
            <a:ext cx="228594" cy="194309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848403" y="1638299"/>
            <a:ext cx="1428714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333333"/>
                </a:solidFill>
                <a:latin typeface="Roboto"/>
              </a:rPr>
              <a:t>Random Forest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48403" y="1866899"/>
            <a:ext cx="1428714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88888"/>
                </a:solidFill>
                <a:latin typeface="Roboto"/>
              </a:rPr>
              <a:t>Ensemble Learning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34046" y="2514600"/>
            <a:ext cx="2190695" cy="1009649"/>
          </a:xfrm>
          <a:prstGeom prst="roundRect">
            <a:avLst>
              <a:gd name="adj" fmla="val 22641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276918" y="2657475"/>
            <a:ext cx="504812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88888"/>
                </a:solidFill>
                <a:latin typeface="Roboto"/>
              </a:rPr>
              <a:t>R² Score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48483" y="2657475"/>
            <a:ext cx="533386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88888"/>
                </a:solidFill>
                <a:latin typeface="Roboto"/>
              </a:rPr>
              <a:t>Excellent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76918" y="2857500"/>
            <a:ext cx="1904952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2E7D32"/>
                </a:solidFill>
                <a:latin typeface="Montserrat"/>
              </a:rPr>
              <a:t>0.95+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276918" y="3305174"/>
            <a:ext cx="1904952" cy="76200"/>
          </a:xfrm>
          <a:prstGeom prst="roundRect">
            <a:avLst>
              <a:gd name="adj" fmla="val 10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7276918" y="3305174"/>
            <a:ext cx="1809704" cy="76200"/>
          </a:xfrm>
          <a:prstGeom prst="roundRect">
            <a:avLst>
              <a:gd name="adj" fmla="val 10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7134046" y="3714750"/>
            <a:ext cx="2190695" cy="1009649"/>
          </a:xfrm>
          <a:prstGeom prst="roundRect">
            <a:avLst>
              <a:gd name="adj" fmla="val 22641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276918" y="3857625"/>
            <a:ext cx="752456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88888"/>
                </a:solidFill>
                <a:latin typeface="Roboto"/>
              </a:rPr>
              <a:t>RMSE / MAE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29414" y="3857625"/>
            <a:ext cx="752456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888888"/>
                </a:solidFill>
                <a:latin typeface="Roboto"/>
              </a:rPr>
              <a:t>Lowest Error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76918" y="4057650"/>
            <a:ext cx="1904952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2E7D32"/>
                </a:solidFill>
                <a:latin typeface="Montserrat"/>
              </a:rPr>
              <a:t>Lowest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276918" y="4505325"/>
            <a:ext cx="1904952" cy="76200"/>
          </a:xfrm>
          <a:prstGeom prst="roundRect">
            <a:avLst>
              <a:gd name="adj" fmla="val 10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7276918" y="4505325"/>
            <a:ext cx="380990" cy="76200"/>
          </a:xfrm>
          <a:prstGeom prst="roundRect">
            <a:avLst>
              <a:gd name="adj" fmla="val 100000"/>
            </a:avLst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7134046" y="5734050"/>
            <a:ext cx="2190695" cy="342900"/>
          </a:xfrm>
          <a:prstGeom prst="roundRect">
            <a:avLst>
              <a:gd name="adj" fmla="val 44444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134046" y="5734050"/>
            <a:ext cx="219069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4875"/>
              </a:spcBef>
              <a:spcAft>
                <a:spcPts val="0"/>
              </a:spcAft>
            </a:pPr>
            <a:r>
              <a:rPr sz="837" b="1">
                <a:solidFill>
                  <a:srgbClr val="2E7D32"/>
                </a:solidFill>
                <a:latin typeface="Roboto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2E7D32"/>
                </a:solidFill>
                <a:latin typeface="Roboto"/>
              </a:rPr>
              <a:t> Best Generalization 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62660" y="5856351"/>
            <a:ext cx="133346" cy="1173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657908" cy="761999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71450"/>
            <a:ext cx="6324441" cy="419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Model Optimization: GridSearchCV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238249"/>
            <a:ext cx="304792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1B5E20"/>
                </a:solidFill>
                <a:latin typeface="Robot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B5E20"/>
                </a:solidFill>
                <a:latin typeface="Roboto"/>
              </a:rPr>
              <a:t> Tuning Strategy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1283017"/>
            <a:ext cx="228594" cy="17716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0535" y="1598813"/>
            <a:ext cx="3047923" cy="2295525"/>
          </a:xfrm>
          <a:prstGeom prst="roundRect">
            <a:avLst>
              <a:gd name="adj" fmla="val 13278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458167" y="2647515"/>
            <a:ext cx="2295525" cy="1981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8179" y="1789314"/>
            <a:ext cx="2609784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2E7D32"/>
                </a:solidFill>
                <a:latin typeface="Roboto"/>
              </a:rPr>
              <a:t>1. Hyperparameter Grid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179" y="2084589"/>
            <a:ext cx="2609784" cy="304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  <a:latin typeface="Roboto"/>
              </a:rPr>
              <a:t>Defined search space to optimize model complexity and prevent overfitting.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8179" y="2532264"/>
            <a:ext cx="1228694" cy="514350"/>
          </a:xfrm>
          <a:prstGeom prst="roundRect">
            <a:avLst>
              <a:gd name="adj" fmla="val 2962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8179" y="2532264"/>
            <a:ext cx="1228694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7" b="0">
                <a:solidFill>
                  <a:srgbClr val="757575"/>
                </a:solidFill>
                <a:latin typeface="Roboto Mono"/>
              </a:rPr>
              <a:t>ESTIMATORS</a:t>
            </a:r>
            <a:r>
              <a:rPr sz="777" b="0">
                <a:solidFill>
                  <a:srgbClr val="333333"/>
                </a:solidFill>
                <a:latin typeface="Roboto Mono"/>
              </a:rPr>
              <a:t> 50, 100, 200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9744" y="2532264"/>
            <a:ext cx="1228694" cy="514350"/>
          </a:xfrm>
          <a:prstGeom prst="roundRect">
            <a:avLst>
              <a:gd name="adj" fmla="val 2962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09744" y="2532264"/>
            <a:ext cx="1228694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7" b="0">
                <a:solidFill>
                  <a:srgbClr val="757575"/>
                </a:solidFill>
                <a:latin typeface="Roboto Mono"/>
              </a:rPr>
              <a:t>MAX_DEPTH</a:t>
            </a:r>
            <a:r>
              <a:rPr sz="777" b="0">
                <a:solidFill>
                  <a:srgbClr val="333333"/>
                </a:solidFill>
                <a:latin typeface="Roboto Mono"/>
              </a:rPr>
              <a:t> 10, 20, None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179" y="3189489"/>
            <a:ext cx="1228694" cy="514350"/>
          </a:xfrm>
          <a:prstGeom prst="roundRect">
            <a:avLst>
              <a:gd name="adj" fmla="val 2962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179" y="3189489"/>
            <a:ext cx="1228694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7" b="0">
                <a:solidFill>
                  <a:srgbClr val="757575"/>
                </a:solidFill>
                <a:latin typeface="Roboto Mono"/>
              </a:rPr>
              <a:t>SPLIT</a:t>
            </a:r>
            <a:r>
              <a:rPr sz="777" b="0">
                <a:solidFill>
                  <a:srgbClr val="333333"/>
                </a:solidFill>
                <a:latin typeface="Roboto Mono"/>
              </a:rPr>
              <a:t> 2, 5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09744" y="3189489"/>
            <a:ext cx="1228694" cy="514350"/>
          </a:xfrm>
          <a:prstGeom prst="roundRect">
            <a:avLst>
              <a:gd name="adj" fmla="val 2962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09744" y="3189489"/>
            <a:ext cx="1228694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7" b="0">
                <a:solidFill>
                  <a:srgbClr val="757575"/>
                </a:solidFill>
                <a:latin typeface="Roboto Mono"/>
              </a:rPr>
              <a:t>FEATURES</a:t>
            </a:r>
            <a:r>
              <a:rPr sz="777" b="0">
                <a:solidFill>
                  <a:srgbClr val="333333"/>
                </a:solidFill>
                <a:latin typeface="Roboto Mono"/>
              </a:rPr>
              <a:t> sqrt, log2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1012" y="4137895"/>
            <a:ext cx="3047923" cy="1133475"/>
          </a:xfrm>
          <a:prstGeom prst="roundRect">
            <a:avLst>
              <a:gd name="adj" fmla="val 26890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73335" y="4605572"/>
            <a:ext cx="1133475" cy="1981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8656" y="4328394"/>
            <a:ext cx="2609784" cy="2000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2E7D32"/>
                </a:solidFill>
                <a:latin typeface="Roboto"/>
              </a:rPr>
              <a:t>2. Cross-Validation (3-Fold)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656" y="4623670"/>
            <a:ext cx="2609784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  <a:latin typeface="Roboto"/>
              </a:rPr>
              <a:t>Rigorously evaluated combinations to ensure stable performance across data subsets.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35159" y="913447"/>
            <a:ext cx="6781631" cy="4005794"/>
          </a:xfrm>
          <a:prstGeom prst="roundRect">
            <a:avLst>
              <a:gd name="adj" fmla="val 8888"/>
            </a:avLst>
          </a:prstGeom>
          <a:solidFill>
            <a:srgbClr val="FAFAFA"/>
          </a:solidFill>
          <a:ln w="16510"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ounded Rectangle 22"/>
          <p:cNvSpPr/>
          <p:nvPr/>
        </p:nvSpPr>
        <p:spPr>
          <a:xfrm>
            <a:off x="4982804" y="1362075"/>
            <a:ext cx="6533986" cy="1104900"/>
          </a:xfrm>
          <a:prstGeom prst="roundRect">
            <a:avLst>
              <a:gd name="adj" fmla="val 20689"/>
            </a:avLst>
          </a:prstGeom>
          <a:gradFill rotWithShape="1">
            <a:gsLst>
              <a:gs pos="0">
                <a:srgbClr val="2E7D32"/>
              </a:gs>
              <a:gs pos="100000">
                <a:srgbClr val="43A047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68546" y="1552575"/>
            <a:ext cx="5962500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R² Score Improvement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8546" y="1781175"/>
            <a:ext cx="5962500" cy="4952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11" b="1">
                <a:solidFill>
                  <a:srgbClr val="FFFFFF"/>
                </a:solidFill>
                <a:latin typeface="Montserrat"/>
              </a:rPr>
              <a:t>+1.5% to 2.0%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82804" y="2800349"/>
            <a:ext cx="1866853" cy="1247775"/>
          </a:xfrm>
          <a:prstGeom prst="roundRect">
            <a:avLst>
              <a:gd name="adj" fmla="val 1832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73299" y="2990849"/>
            <a:ext cx="1485862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837" b="0">
                <a:solidFill>
                  <a:srgbClr val="757575"/>
                </a:solidFill>
                <a:latin typeface="Roboto"/>
              </a:rPr>
              <a:t>R²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3299" y="3333749"/>
            <a:ext cx="45718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BDBDBD"/>
                </a:solidFill>
                <a:latin typeface="Roboto"/>
              </a:rPr>
              <a:t>0.95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6210" y="3403282"/>
            <a:ext cx="228594" cy="16573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040052" y="3238500"/>
            <a:ext cx="609584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B5E20"/>
                </a:solidFill>
                <a:latin typeface="Roboto"/>
              </a:rPr>
              <a:t>0.96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54289" y="3648074"/>
            <a:ext cx="714357" cy="209550"/>
          </a:xfrm>
          <a:prstGeom prst="roundRect">
            <a:avLst>
              <a:gd name="adj" fmla="val 54545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554289" y="3648074"/>
            <a:ext cx="714357" cy="2095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325"/>
              </a:spcBef>
              <a:spcAft>
                <a:spcPts val="0"/>
              </a:spcAft>
            </a:pPr>
            <a:r>
              <a:rPr sz="717" b="1">
                <a:solidFill>
                  <a:srgbClr val="2E7D32"/>
                </a:solidFill>
                <a:latin typeface="Roboto"/>
              </a:rPr>
              <a:t>Accuracy 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30627" y="2800349"/>
            <a:ext cx="2143071" cy="1247775"/>
          </a:xfrm>
          <a:prstGeom prst="roundRect">
            <a:avLst>
              <a:gd name="adj" fmla="val 1832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21123" y="2990849"/>
            <a:ext cx="1762080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837" b="0">
                <a:solidFill>
                  <a:srgbClr val="757575"/>
                </a:solidFill>
                <a:latin typeface="Roboto"/>
              </a:rPr>
              <a:t>RMSE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1123" y="3333749"/>
            <a:ext cx="57148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BDBDBD"/>
                </a:solidFill>
                <a:latin typeface="Roboto"/>
              </a:rPr>
              <a:t>4,200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7856" y="3403282"/>
            <a:ext cx="228594" cy="16573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211698" y="3238500"/>
            <a:ext cx="771505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B5E20"/>
                </a:solidFill>
                <a:latin typeface="Roboto"/>
              </a:rPr>
              <a:t>3,900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59282" y="3648074"/>
            <a:ext cx="495287" cy="209550"/>
          </a:xfrm>
          <a:prstGeom prst="roundRect">
            <a:avLst>
              <a:gd name="adj" fmla="val 54545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59282" y="3648074"/>
            <a:ext cx="495287" cy="2095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325"/>
              </a:spcBef>
              <a:spcAft>
                <a:spcPts val="0"/>
              </a:spcAft>
            </a:pPr>
            <a:r>
              <a:rPr sz="717" b="1">
                <a:solidFill>
                  <a:srgbClr val="2E7D32"/>
                </a:solidFill>
                <a:latin typeface="Roboto"/>
              </a:rPr>
              <a:t>Error 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73719" y="2800349"/>
            <a:ext cx="2143071" cy="1247775"/>
          </a:xfrm>
          <a:prstGeom prst="roundRect">
            <a:avLst>
              <a:gd name="adj" fmla="val 1832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564214" y="2990849"/>
            <a:ext cx="1762080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837" b="0">
                <a:solidFill>
                  <a:srgbClr val="757575"/>
                </a:solidFill>
                <a:latin typeface="Roboto"/>
              </a:rPr>
              <a:t>MAE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64214" y="3333749"/>
            <a:ext cx="57148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BDBDBD"/>
                </a:solidFill>
                <a:latin typeface="Roboto"/>
              </a:rPr>
              <a:t>2,500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30947" y="3403282"/>
            <a:ext cx="228594" cy="16573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554789" y="3238500"/>
            <a:ext cx="771505" cy="3619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1B5E20"/>
                </a:solidFill>
                <a:latin typeface="Roboto"/>
              </a:rPr>
              <a:t>2,300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02373" y="3648074"/>
            <a:ext cx="495287" cy="209550"/>
          </a:xfrm>
          <a:prstGeom prst="roundRect">
            <a:avLst>
              <a:gd name="adj" fmla="val 54545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202373" y="3648074"/>
            <a:ext cx="495287" cy="2095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325"/>
              </a:spcBef>
              <a:spcAft>
                <a:spcPts val="0"/>
              </a:spcAft>
            </a:pPr>
            <a:r>
              <a:rPr sz="717" b="1">
                <a:solidFill>
                  <a:srgbClr val="2E7D32"/>
                </a:solidFill>
                <a:latin typeface="Roboto"/>
              </a:rPr>
              <a:t>Error ↓</a:t>
            </a:r>
          </a:p>
        </p:txBody>
      </p:sp>
      <p:sp>
        <p:nvSpPr>
          <p:cNvPr id="47" name="Rounded Rectangle 32"/>
          <p:cNvSpPr/>
          <p:nvPr/>
        </p:nvSpPr>
        <p:spPr>
          <a:xfrm>
            <a:off x="1796567" y="5541206"/>
            <a:ext cx="8764583" cy="1132125"/>
          </a:xfrm>
          <a:prstGeom prst="roundRect">
            <a:avLst>
              <a:gd name="adj" fmla="val 31578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0">
                <a:solidFill>
                  <a:srgbClr val="212121"/>
                </a:solidFill>
                <a:latin typeface="Calibri"/>
              </a:defRPr>
            </a:pPr>
            <a:endParaRPr lang="en-US" dirty="0"/>
          </a:p>
        </p:txBody>
      </p:sp>
      <p:sp>
        <p:nvSpPr>
          <p:cNvPr id="48" name="Round Same Side Corner Rectangle 33"/>
          <p:cNvSpPr/>
          <p:nvPr/>
        </p:nvSpPr>
        <p:spPr>
          <a:xfrm rot="16200000">
            <a:off x="1339784" y="5971490"/>
            <a:ext cx="1132123" cy="2644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3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0970" y="5590688"/>
            <a:ext cx="264403" cy="266043"/>
          </a:xfrm>
          <a:prstGeom prst="rect">
            <a:avLst/>
          </a:prstGeom>
        </p:spPr>
      </p:pic>
      <p:sp>
        <p:nvSpPr>
          <p:cNvPr id="50" name="TextBox 8">
            <a:extLst>
              <a:ext uri="{FF2B5EF4-FFF2-40B4-BE49-F238E27FC236}">
                <a16:creationId xmlns:a16="http://schemas.microsoft.com/office/drawing/2014/main" id="{D3ADD3C2-6D55-BB38-0EEF-A0D58E96171D}"/>
              </a:ext>
            </a:extLst>
          </p:cNvPr>
          <p:cNvSpPr txBox="1"/>
          <p:nvPr/>
        </p:nvSpPr>
        <p:spPr>
          <a:xfrm>
            <a:off x="2191032" y="5580192"/>
            <a:ext cx="850662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8F00"/>
                </a:solidFill>
                <a:latin typeface="Calibri"/>
              </a:defRPr>
            </a:pPr>
            <a:r>
              <a:rPr sz="1400" dirty="0"/>
              <a:t> Key Takeaway</a:t>
            </a:r>
            <a:r>
              <a:rPr lang="fr-FR" sz="1400" dirty="0"/>
              <a:t> </a:t>
            </a:r>
            <a:br>
              <a:rPr lang="fr-FR" sz="1400" dirty="0"/>
            </a:br>
            <a:r>
              <a:rPr lang="en-US" sz="1400" dirty="0"/>
              <a:t>Random Forest with </a:t>
            </a:r>
            <a:r>
              <a:rPr lang="en-US" sz="1400" dirty="0" err="1"/>
              <a:t>GridSearchCV</a:t>
            </a:r>
            <a:r>
              <a:rPr lang="en-US" sz="1400" dirty="0"/>
              <a:t> tuning achieves R²=0.967, explaining 96.7% of cereal yield variance. The dominant predictor is Governorate (28%), </a:t>
            </a:r>
            <a:r>
              <a:rPr lang="en-US" sz="1400" dirty="0" err="1"/>
              <a:t>wich</a:t>
            </a:r>
            <a:r>
              <a:rPr lang="en-US" sz="1400" dirty="0"/>
              <a:t> acts as a proxy for unmeasured factors like soil type, irrigation access, and farming traditions. Among weather variables, the engineered Heat Index outperforms raw temperature, confirming that combined heat-humidity stress is the key meteorological driver.</a:t>
            </a:r>
          </a:p>
          <a:p>
            <a:pPr algn="l">
              <a:defRPr sz="1800" b="1">
                <a:solidFill>
                  <a:srgbClr val="FF8F00"/>
                </a:solidFill>
                <a:latin typeface="Calibri"/>
              </a:defRPr>
            </a:pPr>
            <a:endParaRPr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67273" cy="761999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60010"/>
            <a:ext cx="2080954" cy="4419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2" b="1" dirty="0">
                <a:solidFill>
                  <a:srgbClr val="FFFFFF"/>
                </a:solidFill>
                <a:latin typeface="Montserrat"/>
              </a:rPr>
              <a:t>Key Insights </a:t>
            </a:r>
            <a:r>
              <a:rPr lang="fr-FR" sz="2152" b="1" dirty="0">
                <a:solidFill>
                  <a:srgbClr val="FFFFFF"/>
                </a:solidFill>
                <a:latin typeface="Montserrat"/>
              </a:rPr>
              <a:t>:</a:t>
            </a:r>
            <a:endParaRPr sz="2152" b="1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6733" y="1238249"/>
            <a:ext cx="577200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625"/>
              </a:spcAft>
            </a:pPr>
            <a:r>
              <a:rPr sz="1315" b="1">
                <a:solidFill>
                  <a:srgbClr val="1B5E20"/>
                </a:solidFill>
                <a:latin typeface="Robot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1B5E20"/>
                </a:solidFill>
                <a:latin typeface="Roboto"/>
              </a:rPr>
              <a:t> Top Yield Drivers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1255395"/>
            <a:ext cx="228594" cy="1943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33" y="1733550"/>
            <a:ext cx="1523961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55A64"/>
                </a:solidFill>
                <a:latin typeface="Roboto"/>
              </a:rPr>
              <a:t>Heat Index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0695" y="1714500"/>
            <a:ext cx="4248043" cy="228600"/>
          </a:xfrm>
          <a:prstGeom prst="roundRect">
            <a:avLst>
              <a:gd name="adj" fmla="val 10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190695" y="1714500"/>
            <a:ext cx="3733706" cy="22860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43A047"/>
              </a:gs>
              <a:gs pos="100000">
                <a:srgbClr val="66BB6A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0695" y="1714500"/>
            <a:ext cx="373370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Roboto"/>
              </a:rPr>
              <a:t>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33" y="2152650"/>
            <a:ext cx="1523961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55A64"/>
                </a:solidFill>
                <a:latin typeface="Roboto"/>
              </a:rPr>
              <a:t>Temperature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0695" y="2133599"/>
            <a:ext cx="4248043" cy="228600"/>
          </a:xfrm>
          <a:prstGeom prst="roundRect">
            <a:avLst>
              <a:gd name="adj" fmla="val 10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190695" y="2133599"/>
            <a:ext cx="2762180" cy="22860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43A047"/>
              </a:gs>
              <a:gs pos="100000">
                <a:srgbClr val="66BB6A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90695" y="2133599"/>
            <a:ext cx="276218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Roboto"/>
              </a:rP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33" y="2571750"/>
            <a:ext cx="1523961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55A64"/>
                </a:solidFill>
                <a:latin typeface="Roboto"/>
              </a:rPr>
              <a:t>Humidity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0695" y="2552700"/>
            <a:ext cx="4248043" cy="228600"/>
          </a:xfrm>
          <a:prstGeom prst="roundRect">
            <a:avLst>
              <a:gd name="adj" fmla="val 10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190695" y="2552700"/>
            <a:ext cx="1914477" cy="22860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43A047"/>
              </a:gs>
              <a:gs pos="100000">
                <a:srgbClr val="66BB6A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90695" y="2552700"/>
            <a:ext cx="191447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Roboto"/>
              </a:rPr>
              <a:t>18%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14977" y="1238249"/>
            <a:ext cx="4609984" cy="5143500"/>
          </a:xfrm>
          <a:prstGeom prst="roundRect">
            <a:avLst>
              <a:gd name="adj" fmla="val 9917"/>
            </a:avLst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7121" y="1981199"/>
            <a:ext cx="725696" cy="609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95967" y="2781300"/>
            <a:ext cx="384800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FFFFFF"/>
                </a:solidFill>
                <a:latin typeface="Roboto"/>
              </a:rPr>
              <a:t>Project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5967" y="3143250"/>
            <a:ext cx="3848003" cy="1523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1950"/>
              </a:spcAft>
            </a:pPr>
            <a:r>
              <a:rPr sz="1196" b="0">
                <a:solidFill>
                  <a:srgbClr val="FFFFFF"/>
                </a:solidFill>
                <a:latin typeface="Roboto"/>
              </a:rPr>
              <a:t> The </a:t>
            </a:r>
            <a:r>
              <a:rPr sz="1196" b="1">
                <a:solidFill>
                  <a:srgbClr val="FFFFFF"/>
                </a:solidFill>
                <a:latin typeface="Roboto"/>
              </a:rPr>
              <a:t>Tuned Random Forest</a:t>
            </a:r>
            <a:r>
              <a:rPr sz="1196" b="0">
                <a:solidFill>
                  <a:srgbClr val="FFFFFF"/>
                </a:solidFill>
                <a:latin typeface="Roboto"/>
              </a:rPr>
              <a:t> model successfully captures the complex relationship between climate and yield, proving that Machine Learning is a viable tool for sustainable agriculture.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5967" y="5143500"/>
            <a:ext cx="1152496" cy="323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81C784"/>
                </a:solidFill>
                <a:latin typeface="Montserrat"/>
              </a:rPr>
              <a:t>95%+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95967" y="5505450"/>
            <a:ext cx="1152496" cy="1333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325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Roboto"/>
              </a:rPr>
              <a:t>Accuracy (R²)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8959" y="5143500"/>
            <a:ext cx="1152496" cy="323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81C784"/>
                </a:solidFill>
                <a:latin typeface="Montserrat"/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38959" y="5505450"/>
            <a:ext cx="1152496" cy="1333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325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Roboto"/>
              </a:rPr>
              <a:t>Features Used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91475" y="5143500"/>
            <a:ext cx="1152496" cy="323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81C784"/>
                </a:solidFill>
                <a:latin typeface="Montserrat"/>
              </a:rPr>
              <a:t>2016-24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1475" y="5505450"/>
            <a:ext cx="1152496" cy="1333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325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Roboto"/>
              </a:rPr>
              <a:t>Data Span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FF477F-2101-65C3-4422-B34B22EDC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298BC8-DA7A-1BD8-1663-1BD4FC9EE784}"/>
              </a:ext>
            </a:extLst>
          </p:cNvPr>
          <p:cNvSpPr/>
          <p:nvPr/>
        </p:nvSpPr>
        <p:spPr>
          <a:xfrm>
            <a:off x="0" y="0"/>
            <a:ext cx="6067273" cy="761999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1EB6F4-9C8D-75C2-D14B-B53239FFEECB}"/>
              </a:ext>
            </a:extLst>
          </p:cNvPr>
          <p:cNvSpPr txBox="1"/>
          <p:nvPr/>
        </p:nvSpPr>
        <p:spPr>
          <a:xfrm>
            <a:off x="666733" y="140934"/>
            <a:ext cx="3265574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rPr lang="fr-FR" sz="2400" dirty="0"/>
              <a:t>Conclusion &amp; Next </a:t>
            </a:r>
            <a:r>
              <a:rPr lang="fr-FR" sz="2400" dirty="0" err="1"/>
              <a:t>Steps</a:t>
            </a:r>
            <a:endParaRPr lang="fr-FR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A9F340-D5C4-59AE-5EE1-D43290D8CF44}"/>
              </a:ext>
            </a:extLst>
          </p:cNvPr>
          <p:cNvSpPr txBox="1"/>
          <p:nvPr/>
        </p:nvSpPr>
        <p:spPr>
          <a:xfrm>
            <a:off x="7295967" y="2781300"/>
            <a:ext cx="384800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FFFFFF"/>
                </a:solidFill>
                <a:latin typeface="Roboto"/>
              </a:rPr>
              <a:t>Project Impact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CA2A53-AFA3-88DE-6D94-9964FF740455}"/>
              </a:ext>
            </a:extLst>
          </p:cNvPr>
          <p:cNvSpPr txBox="1"/>
          <p:nvPr/>
        </p:nvSpPr>
        <p:spPr>
          <a:xfrm>
            <a:off x="7651726" y="644627"/>
            <a:ext cx="3848003" cy="1523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1950"/>
              </a:spcAft>
            </a:pPr>
            <a:r>
              <a:rPr sz="1196" b="0">
                <a:solidFill>
                  <a:srgbClr val="FFFFFF"/>
                </a:solidFill>
                <a:latin typeface="Roboto"/>
              </a:rPr>
              <a:t> The </a:t>
            </a:r>
            <a:r>
              <a:rPr sz="1196" b="1">
                <a:solidFill>
                  <a:srgbClr val="FFFFFF"/>
                </a:solidFill>
                <a:latin typeface="Roboto"/>
              </a:rPr>
              <a:t>Tuned Random Forest</a:t>
            </a:r>
            <a:r>
              <a:rPr sz="1196" b="0">
                <a:solidFill>
                  <a:srgbClr val="FFFFFF"/>
                </a:solidFill>
                <a:latin typeface="Roboto"/>
              </a:rPr>
              <a:t> model successfully captures the complex relationship between climate and yield, proving that Machine Learning is a viable tool for sustainable agriculture.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ACA178-A3F9-4DE3-C03D-D784A6E805E6}"/>
              </a:ext>
            </a:extLst>
          </p:cNvPr>
          <p:cNvSpPr txBox="1"/>
          <p:nvPr/>
        </p:nvSpPr>
        <p:spPr>
          <a:xfrm>
            <a:off x="7651726" y="2644877"/>
            <a:ext cx="1152496" cy="323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81C784"/>
                </a:solidFill>
                <a:latin typeface="Montserrat"/>
              </a:rPr>
              <a:t>95%+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19C52D-D4A1-92F5-9902-5E8114C0EE72}"/>
              </a:ext>
            </a:extLst>
          </p:cNvPr>
          <p:cNvSpPr txBox="1"/>
          <p:nvPr/>
        </p:nvSpPr>
        <p:spPr>
          <a:xfrm>
            <a:off x="7651726" y="3006827"/>
            <a:ext cx="1152496" cy="1333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325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Roboto"/>
              </a:rPr>
              <a:t>Accuracy (R²)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1F1015-1028-9364-7FFE-AD2F5B0B2BAF}"/>
              </a:ext>
            </a:extLst>
          </p:cNvPr>
          <p:cNvSpPr txBox="1"/>
          <p:nvPr/>
        </p:nvSpPr>
        <p:spPr>
          <a:xfrm>
            <a:off x="8994718" y="2644877"/>
            <a:ext cx="1152496" cy="323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81C784"/>
                </a:solidFill>
                <a:latin typeface="Montserrat"/>
              </a:rPr>
              <a:t>11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7E4D67-CEAE-430A-E2DC-AB1A91FFBA67}"/>
              </a:ext>
            </a:extLst>
          </p:cNvPr>
          <p:cNvSpPr txBox="1"/>
          <p:nvPr/>
        </p:nvSpPr>
        <p:spPr>
          <a:xfrm>
            <a:off x="8994718" y="3006827"/>
            <a:ext cx="1152496" cy="1333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325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Roboto"/>
              </a:rPr>
              <a:t>Features Used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698615-6C35-ACFF-EC28-D0013B09C984}"/>
              </a:ext>
            </a:extLst>
          </p:cNvPr>
          <p:cNvSpPr txBox="1"/>
          <p:nvPr/>
        </p:nvSpPr>
        <p:spPr>
          <a:xfrm>
            <a:off x="10347234" y="2644877"/>
            <a:ext cx="1152496" cy="323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81C784"/>
                </a:solidFill>
                <a:latin typeface="Montserrat"/>
              </a:rPr>
              <a:t>2016-24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2A8039-312B-98B1-6D1E-331A27C3323D}"/>
              </a:ext>
            </a:extLst>
          </p:cNvPr>
          <p:cNvSpPr txBox="1"/>
          <p:nvPr/>
        </p:nvSpPr>
        <p:spPr>
          <a:xfrm>
            <a:off x="10347234" y="3006827"/>
            <a:ext cx="1152496" cy="1333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325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Roboto"/>
              </a:rPr>
              <a:t>Data Span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5A9F84-F8A8-0D13-5F8A-A6B95AA7DEBA}"/>
              </a:ext>
            </a:extLst>
          </p:cNvPr>
          <p:cNvSpPr/>
          <p:nvPr/>
        </p:nvSpPr>
        <p:spPr>
          <a:xfrm>
            <a:off x="374697" y="1276717"/>
            <a:ext cx="5486400" cy="2743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4">
            <a:extLst>
              <a:ext uri="{FF2B5EF4-FFF2-40B4-BE49-F238E27FC236}">
                <a16:creationId xmlns:a16="http://schemas.microsoft.com/office/drawing/2014/main" id="{02FBE9F6-BCEA-E329-E7F9-CD1A05753C5F}"/>
              </a:ext>
            </a:extLst>
          </p:cNvPr>
          <p:cNvSpPr txBox="1"/>
          <p:nvPr/>
        </p:nvSpPr>
        <p:spPr>
          <a:xfrm>
            <a:off x="578667" y="1353287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20"/>
                </a:solidFill>
                <a:latin typeface="Calibri"/>
              </a:defRPr>
            </a:pPr>
            <a:r>
              <a:t>✅ What We Achieved</a:t>
            </a:r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C1D3D0FD-B9C0-317D-8868-2CB461D9720F}"/>
              </a:ext>
            </a:extLst>
          </p:cNvPr>
          <p:cNvSpPr txBox="1"/>
          <p:nvPr/>
        </p:nvSpPr>
        <p:spPr>
          <a:xfrm>
            <a:off x="549093" y="1901927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rPr dirty="0"/>
              <a:t>• Comprehensive EDA on 1,479 observations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rPr dirty="0"/>
              <a:t>• 4 engineered features from raw weather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rPr dirty="0"/>
              <a:t>• 4 models trained &amp; rigorously compared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rPr dirty="0"/>
              <a:t>• Best model: Tuned RF (R² = 0.967)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rPr dirty="0"/>
              <a:t>• Identified Governorate + Heat Index as top drivers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rPr dirty="0"/>
              <a:t>• Built interactive </a:t>
            </a:r>
            <a:r>
              <a:rPr dirty="0" err="1"/>
              <a:t>Streamlit</a:t>
            </a:r>
            <a:r>
              <a:rPr dirty="0"/>
              <a:t> prediction app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B465F7-4BB9-22DB-3A1B-95D80E043C9E}"/>
              </a:ext>
            </a:extLst>
          </p:cNvPr>
          <p:cNvSpPr/>
          <p:nvPr/>
        </p:nvSpPr>
        <p:spPr>
          <a:xfrm>
            <a:off x="6156507" y="1261847"/>
            <a:ext cx="5486400" cy="2743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7">
            <a:extLst>
              <a:ext uri="{FF2B5EF4-FFF2-40B4-BE49-F238E27FC236}">
                <a16:creationId xmlns:a16="http://schemas.microsoft.com/office/drawing/2014/main" id="{9B67397D-5233-9D45-C6AE-0431E2307FA7}"/>
              </a:ext>
            </a:extLst>
          </p:cNvPr>
          <p:cNvSpPr txBox="1"/>
          <p:nvPr/>
        </p:nvSpPr>
        <p:spPr>
          <a:xfrm>
            <a:off x="6339387" y="1353287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65C0"/>
                </a:solidFill>
                <a:latin typeface="Calibri"/>
              </a:defRPr>
            </a:pPr>
            <a:r>
              <a:t>🔮 Next Steps</a:t>
            </a:r>
          </a:p>
        </p:txBody>
      </p:sp>
      <p:sp>
        <p:nvSpPr>
          <p:cNvPr id="38" name="TextBox 8">
            <a:extLst>
              <a:ext uri="{FF2B5EF4-FFF2-40B4-BE49-F238E27FC236}">
                <a16:creationId xmlns:a16="http://schemas.microsoft.com/office/drawing/2014/main" id="{F79A7A98-3E7C-5CE9-3A48-2EF15A5B1738}"/>
              </a:ext>
            </a:extLst>
          </p:cNvPr>
          <p:cNvSpPr txBox="1"/>
          <p:nvPr/>
        </p:nvSpPr>
        <p:spPr>
          <a:xfrm>
            <a:off x="6339387" y="1901927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Add monthly weather resolution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Include soil type &amp; irrigation data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Integrate NDVI satellite imagery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Extend to multi-target prediction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Explore LSTM time-series models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Deploy as cloud API service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C59494-1757-6E7C-0DD2-A421BDC0CCFA}"/>
              </a:ext>
            </a:extLst>
          </p:cNvPr>
          <p:cNvSpPr/>
          <p:nvPr/>
        </p:nvSpPr>
        <p:spPr>
          <a:xfrm>
            <a:off x="1828800" y="4480560"/>
            <a:ext cx="8503920" cy="18288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10">
            <a:extLst>
              <a:ext uri="{FF2B5EF4-FFF2-40B4-BE49-F238E27FC236}">
                <a16:creationId xmlns:a16="http://schemas.microsoft.com/office/drawing/2014/main" id="{F49CB46E-FA3E-D639-5390-2A3E6CA7DE0E}"/>
              </a:ext>
            </a:extLst>
          </p:cNvPr>
          <p:cNvSpPr txBox="1"/>
          <p:nvPr/>
        </p:nvSpPr>
        <p:spPr>
          <a:xfrm>
            <a:off x="1828800" y="45720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Thank You — Questions?</a:t>
            </a:r>
          </a:p>
        </p:txBody>
      </p:sp>
      <p:sp>
        <p:nvSpPr>
          <p:cNvPr id="41" name="TextBox 11">
            <a:extLst>
              <a:ext uri="{FF2B5EF4-FFF2-40B4-BE49-F238E27FC236}">
                <a16:creationId xmlns:a16="http://schemas.microsoft.com/office/drawing/2014/main" id="{F309ECF0-1069-A854-5151-24365FB0AF06}"/>
              </a:ext>
            </a:extLst>
          </p:cNvPr>
          <p:cNvSpPr txBox="1"/>
          <p:nvPr/>
        </p:nvSpPr>
        <p:spPr>
          <a:xfrm>
            <a:off x="1828800" y="5303520"/>
            <a:ext cx="8503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D6A7"/>
                </a:solidFill>
                <a:latin typeface="Calibri"/>
              </a:defRPr>
            </a:pPr>
            <a:r>
              <a:rPr dirty="0"/>
              <a:t>Aya </a:t>
            </a:r>
            <a:r>
              <a:rPr dirty="0" err="1"/>
              <a:t>Gharsalli</a:t>
            </a:r>
            <a:r>
              <a:rPr dirty="0"/>
              <a:t> </a:t>
            </a:r>
            <a:r>
              <a:rPr lang="fr-FR" dirty="0"/>
              <a:t> &amp;</a:t>
            </a:r>
            <a:r>
              <a:rPr lang="fr-FR" dirty="0" err="1"/>
              <a:t>Ferdaws</a:t>
            </a:r>
            <a:r>
              <a:rPr lang="fr-FR" dirty="0"/>
              <a:t> Saidi   </a:t>
            </a:r>
            <a:r>
              <a:rPr dirty="0"/>
              <a:t>|  </a:t>
            </a:r>
            <a:r>
              <a:rPr dirty="0" err="1"/>
              <a:t>EcoCrop</a:t>
            </a:r>
            <a:r>
              <a:rPr dirty="0"/>
              <a:t> Tunisia  </a:t>
            </a:r>
          </a:p>
        </p:txBody>
      </p:sp>
      <p:sp>
        <p:nvSpPr>
          <p:cNvPr id="42" name="TextBox 12">
            <a:extLst>
              <a:ext uri="{FF2B5EF4-FFF2-40B4-BE49-F238E27FC236}">
                <a16:creationId xmlns:a16="http://schemas.microsoft.com/office/drawing/2014/main" id="{E0A7D6B3-7291-C9A5-9011-8D35F1B1886E}"/>
              </a:ext>
            </a:extLst>
          </p:cNvPr>
          <p:cNvSpPr txBox="1"/>
          <p:nvPr/>
        </p:nvSpPr>
        <p:spPr>
          <a:xfrm>
            <a:off x="1828800" y="5760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CAF50"/>
                </a:solidFill>
                <a:latin typeface="Calibri"/>
              </a:defRPr>
            </a:pPr>
            <a:r>
              <a:t>🌾 Predicting the Future of Tunisian Agriculture</a:t>
            </a:r>
          </a:p>
        </p:txBody>
      </p:sp>
    </p:spTree>
    <p:extLst>
      <p:ext uri="{BB962C8B-B14F-4D97-AF65-F5344CB8AC3E}">
        <p14:creationId xmlns:p14="http://schemas.microsoft.com/office/powerpoint/2010/main" val="4280372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751</Words>
  <Application>Microsoft Office PowerPoint</Application>
  <PresentationFormat>Grand écran</PresentationFormat>
  <Paragraphs>183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Arial</vt:lpstr>
      <vt:lpstr>Calibri</vt:lpstr>
      <vt:lpstr>Montserrat</vt:lpstr>
      <vt:lpstr>Roboto</vt:lpstr>
      <vt:lpstr>Roboto Mono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MSI</dc:creator>
  <cp:keywords/>
  <dc:description>generated using python-pptx</dc:description>
  <cp:lastModifiedBy>Eya GHARSALLI</cp:lastModifiedBy>
  <cp:revision>3</cp:revision>
  <dcterms:created xsi:type="dcterms:W3CDTF">2013-01-27T09:14:16Z</dcterms:created>
  <dcterms:modified xsi:type="dcterms:W3CDTF">2026-04-15T08:34:59Z</dcterms:modified>
  <cp:category/>
</cp:coreProperties>
</file>