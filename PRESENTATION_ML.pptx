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CAF50"/>
                </a:solidFill>
                <a:latin typeface="Calibri"/>
              </a:defRPr>
            </a:pPr>
            <a:r>
              <a:t>ECOCROP TUNISIA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Crop Yield Prediction Using</a:t>
            </a:r>
            <a:br/>
            <a:r>
              <a:t>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5D6A7"/>
                </a:solidFill>
                <a:latin typeface="Calibri"/>
              </a:defRPr>
            </a:pPr>
            <a:r>
              <a:t>Predicting cereal production across 24 governorates from agro-climatic data (2016–2024)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Ferdaws Saidi  &amp;  Aya Gharsalli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1C784"/>
                </a:solidFill>
                <a:latin typeface="Calibri"/>
              </a:defRPr>
            </a:pPr>
            <a:r>
              <a:t>2024  |  Machine Learning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3035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🔥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• Tunisia's agriculture is climate-sensitive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• Cereals = staple food for 11M+ people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• Yield varies significantly by region &amp; year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• Traditional forecasting lacks precision</a:t>
            </a:r>
          </a:p>
          <a:p>
            <a:pPr>
              <a:spcAft>
                <a:spcPts val="600"/>
              </a:spcAft>
              <a:defRPr sz="1500">
                <a:solidFill>
                  <a:srgbClr val="616161"/>
                </a:solidFill>
                <a:latin typeface="Calibri"/>
              </a:defRPr>
            </a:pPr>
            <a:r>
              <a:t>• No ML-based decision support tool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Calibri"/>
              </a:defRPr>
            </a:pPr>
            <a:r>
              <a:t>🎯 Our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1. Explore 9 years of agro-climatic data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2. Engineer meaningful weather features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3. Train &amp; compare regression models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4. Identify key yield drivers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5. Deploy an interactive prediction tool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6. Achieve R² &gt; 0.90 on test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Dataset Overview &amp; ML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02920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📊 Dataset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1,479 observations × 15 columns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24 governorates × 9 years (2016–2024)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5 weather features: precipitation,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  temperature, humidity, solar, wind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7 crop yield targets (Tonnes)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Primary target: Cereales (T)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0 missing values, 0 duplicates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Source: EcoCrop Tunisia (cleaned)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⚙️ ML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1. Data 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CSV import &amp;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591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2.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59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Distributions, correlations, outliers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980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3. 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980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Season, RainBin, TempZone, HeatIdx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369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4.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369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LabelEncoder for categoricals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67588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5.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67588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StandardScaler (z-score)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6.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80/20 train-test (seed=42)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5537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7.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553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LR → DT → RF → RF-Tuned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992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8.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9926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R², RMSE, MAE, CV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4315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9.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4315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Feature importance, residuals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Model Comparison &amp;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📊 Model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5669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Test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(T)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 (T)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Too 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550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Overfits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RF Tuned ⭐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0.967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451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299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🌟 Top 5 Features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82880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Importance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Governorate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Soil, altitude, microclimate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Heat Index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Combined heat stress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Solar Radiation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Photosynthesis driver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Air Temperature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Direct thermal effect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F00"/>
                </a:solidFill>
                <a:latin typeface="Calibri"/>
              </a:defRPr>
            </a:pPr>
            <a:r>
              <a:t>💡 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12121"/>
                </a:solidFill>
                <a:latin typeface="Calibri"/>
              </a:defRPr>
            </a:pPr>
            <a:r>
              <a:t>Random Forest with GridSearchCV tuning achieves R²=0.967, explaining 96.7% of cereal yield variance. The dominant predictor is Governorate (28%), which acts as a proxy for unmeasured factors like soil type, irrigation access, and farming traditions. Among weather variables, the engineered Heat Index outperforms raw temperature, confirming that combined heat-humidity stress is the key meteorological driver.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Performance Metrics — Tuned Random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R²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0.9673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96.7% of variance</a:t>
            </a:r>
            <a:br/>
            <a:r>
              <a:t>explained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5603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56032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Calibri"/>
              </a:defRPr>
            </a:pPr>
            <a:r>
              <a:t>451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26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Average prediction</a:t>
            </a:r>
            <a:br/>
            <a:r>
              <a:t>error in Tonnes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5603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560320" cy="9144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8F00"/>
                </a:solidFill>
                <a:latin typeface="Calibri"/>
              </a:defRPr>
            </a:pPr>
            <a:r>
              <a:t>299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26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Median absolute</a:t>
            </a:r>
            <a:br/>
            <a:r>
              <a:t>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560320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16161"/>
                </a:solidFill>
                <a:latin typeface="Calibri"/>
              </a:defRPr>
            </a:pPr>
            <a:r>
              <a:t>CV R²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B5E20"/>
                </a:solidFill>
                <a:latin typeface="Calibri"/>
              </a:defRPr>
            </a:pPr>
            <a:r>
              <a:t>0.96 ± 0.02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926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16161"/>
                </a:solidFill>
                <a:latin typeface="Calibri"/>
              </a:defRPr>
            </a:pPr>
            <a:r>
              <a:t>5-fold cross-validation</a:t>
            </a:r>
            <a:br/>
            <a:r>
              <a:t>minimal overfitting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📋 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R² = 0.967 → For every 100 Tonnes of real yield variation, our model captures 96.7 Tonnes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RMSE = 451 T → On average, predictions deviate by ~451 Tonnes from actual values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MAE = 299 T → Half of all predictions are within 299 Tonnes of the true yield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CV stability → The small standard deviation (±0.02) across folds confirms no overfitting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Train vs Test gap → R² Train (0.98) vs R² Test (0.97) shows excellent generalization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Insights &amp;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🗺️ Region is 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Governorate alone explains 28% of yield variance — it encodes soil quality, altitude, irrigation patterns, and traditional farming practices that weather alone cannot capture.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🌡️ Heat &gt; 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The engineered Heat Index (temp × humidity factor) outperforms precipitation as a predictor, confirming that Tunisian cereal farming is more limited by heat stress than water scarcity.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5486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☀️ Solar Drives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Solar radiation ranks #3 among all features, reflecting its direct role in photosynthesis and crop development during the growing season.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474720"/>
            <a:ext cx="5486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❌ Linearity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Calibri"/>
              </a:defRPr>
            </a:pPr>
            <a:r>
              <a:t>Linear Regression (R²=0.25) vs Random Forest (R²=0.97) proves that crop-climate relationships involve thresholds, interactions, and non-linear responses that only ensemble methods can capture.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Real-World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👨‍🌾 For Farmers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Predict expected yield before harvest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Optimize fertilizer &amp; water allocation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Compare performance across seasons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Plan storage and logistics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371600"/>
            <a:ext cx="347472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🏛️ For Policymakers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National food security forecasting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Targeted subsidy allocation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Climate adaptation planning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Import/export decision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371600"/>
            <a:ext cx="347472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59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🔬 For Researchers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Identify climate-yield relationships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Quantify feature importance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Benchmark for advanced models</a:t>
            </a:r>
          </a:p>
          <a:p>
            <a:pPr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Reproducible ML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✅ 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Comprehensive EDA on 1,479 observations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4 engineered features from raw weather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4 models trained &amp; rigorously compared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Best model: Tuned RF (R² = 0.967)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Identified Governorate + Heat Index as top drivers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Built interactive Streamlit prediction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5C0"/>
                </a:solidFill>
                <a:latin typeface="Calibri"/>
              </a:defRPr>
            </a:pPr>
            <a:r>
              <a:t>🔮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Add monthly weather resolution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Include soil type &amp; irrigation data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Integrate NDVI satellite imagery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Extend to multi-target prediction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Explore LSTM time-series models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Deploy as cloud API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480560"/>
            <a:ext cx="8503920" cy="1828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45720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 —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D6A7"/>
                </a:solidFill>
                <a:latin typeface="Calibri"/>
              </a:defRPr>
            </a:pPr>
            <a:r>
              <a:t>Ferdaws Saidi  &amp;  Aya Gharsalli  |  EcoCrop Tunisia  | 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🌾 Predicting the Future of Tunisian Agriculture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872</Words>
  <Application>Microsoft Office PowerPoint</Application>
  <PresentationFormat>Grand écran</PresentationFormat>
  <Paragraphs>161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MSI</dc:creator>
  <cp:keywords/>
  <dc:description>generated using python-pptx</dc:description>
  <cp:lastModifiedBy>Eya GHARSALLI</cp:lastModifiedBy>
  <cp:revision>1</cp:revision>
  <dcterms:created xsi:type="dcterms:W3CDTF">2013-01-27T09:14:16Z</dcterms:created>
  <dcterms:modified xsi:type="dcterms:W3CDTF">2026-04-14T23:21:24Z</dcterms:modified>
  <cp:category/>
</cp:coreProperties>
</file>